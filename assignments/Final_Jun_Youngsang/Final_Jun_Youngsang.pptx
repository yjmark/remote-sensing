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86" r:id="rId4"/>
    <p:sldId id="287" r:id="rId5"/>
    <p:sldId id="278" r:id="rId6"/>
    <p:sldId id="295" r:id="rId7"/>
    <p:sldId id="285" r:id="rId8"/>
    <p:sldId id="288" r:id="rId9"/>
    <p:sldId id="289" r:id="rId10"/>
    <p:sldId id="282" r:id="rId11"/>
    <p:sldId id="290" r:id="rId12"/>
    <p:sldId id="281" r:id="rId13"/>
    <p:sldId id="283" r:id="rId14"/>
    <p:sldId id="292" r:id="rId15"/>
    <p:sldId id="294" r:id="rId16"/>
    <p:sldId id="296" r:id="rId17"/>
    <p:sldId id="263" r:id="rId18"/>
    <p:sldId id="291" r:id="rId19"/>
    <p:sldId id="293" r:id="rId20"/>
    <p:sldId id="280" r:id="rId21"/>
    <p:sldId id="284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7B92"/>
    <a:srgbClr val="79D6E9"/>
    <a:srgbClr val="003764"/>
    <a:srgbClr val="B3D8FF"/>
    <a:srgbClr val="003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00"/>
    <p:restoredTop sz="73184"/>
  </p:normalViewPr>
  <p:slideViewPr>
    <p:cSldViewPr snapToGrid="0">
      <p:cViewPr>
        <p:scale>
          <a:sx n="70" d="100"/>
          <a:sy n="70" d="100"/>
        </p:scale>
        <p:origin x="184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6C0F0-9252-954C-9A30-EDF58F363F47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6C28-E651-1943-A688-79F14A7DD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9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</a:t>
            </a:r>
            <a:r>
              <a:rPr lang="en-US" dirty="0" err="1"/>
              <a:t>Youngsang</a:t>
            </a:r>
            <a:r>
              <a:rPr lang="en-US" dirty="0"/>
              <a:t> Jun. Today I would like to introduce an application of remote sensing in urban planning, specifically regarding military installations in North Korea on OpenStreetMap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09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/>
              <a:t>The image you see is a GEE satellite image, and the red polygons represent military land use in North Korea that has been revealed on OpenStreetMap. A total of 1,939 polygons were observed on OpenStreetMap. When I export the dataset and open the attribute table using QGIS,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78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was able to observe a total of 1,939 polygons, of which 231 belong to one of the sub-categories, and the rest have NULL values, which means they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do not have any descriptive information beyond their designation as military land use.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77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purpose of this application is to complete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47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4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defined this problem as a non-image ML problem that uses some image-derived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4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shows data processing.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 was able to calculate the mean values of the Normalized Difference Vegetation Index (NDVI), Bare Soil Index (BSI), and Nighttime Light (NTL) for each image segment clipped by polygons. I also was able to calculate the polygon geometry itself, such as area, latitude, and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longtitude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The clip result was saved to one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GeoDataFrame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and able to run random forest model to validate classification performance and predict.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 ensure an enough sample size, labeled military land use polygons from four additional nations surrounding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nK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was merged with these polygons.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27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table shows the number of objects and</a:t>
            </a:r>
            <a:r>
              <a:rPr lang="ko-KR" altLang="en-US" dirty="0"/>
              <a:t> </a:t>
            </a:r>
            <a:r>
              <a:rPr lang="en-US" altLang="ko-KR" dirty="0"/>
              <a:t>their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25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defined this problem as a non-image ML problem that uses some image-derived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02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The potential user for this application will be </a:t>
            </a:r>
            <a:r>
              <a:rPr lang="en-US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the non-intelligence users in the Republic of Korea government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 considering the deployment of military bases while establishing urban plans in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nK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region in the event of future unification. Please note that this application is </a:t>
            </a:r>
            <a:r>
              <a:rPr lang="en-US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not intended for military purposes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86C28-E651-1943-A688-79F14A7DD2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90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2A9F-38D6-73FC-99F1-6EDB93B9C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A0255-B9D6-57BF-08B3-2B8B51D54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E4AC5-3DAB-7AD7-066C-3DA082D0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01A7-8D9B-E046-BDCD-361A6B1C0A96}" type="datetime1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6C575-93C8-2F00-BF40-CB986765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90F63-721F-7662-62A5-D6EE8537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3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14BB-6090-D649-C098-8316B58A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58E4-653E-4B40-1727-3D52E3F9A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3224-F8C4-F253-0D66-A50E5C4F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4C27-5E15-D548-8B4B-F00EAEF2E3E5}" type="datetime1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277F6-9655-C599-F781-8ECF74FB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CB45E-80A2-26E1-C36D-F617B33E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517C-C37B-19E2-89C9-D0B6D22D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E6F2A-58AF-4E7A-DB78-B3A37B9FA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372E5-7BF9-BC62-1670-243971D0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A5F3-2A80-8149-9071-B980A67272EA}" type="datetime1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76AB-5E70-272E-97D1-787AAC19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05BA4-ACA9-89A3-A896-84BB8E6F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4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0521-388F-E935-3F12-7B51A8A4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1C029-F5AB-2A12-6819-1C45D01EB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C6492-9AF3-052C-5637-0B6E365AC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5545E-80D9-29F6-0DCF-E86F141B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3141-9957-A24D-884F-E9D505638ADF}" type="datetime1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489DD-CA2B-110C-7F58-D339CE8A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9A84D-8445-E98A-58D0-75525E33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5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B25-8C8D-EC28-DEA3-3DEA57CE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0A87C-CCA0-C9C4-5A5C-520240389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646C8-978C-58AF-97F0-EB153C042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0FA34-CC42-4703-104D-4FE4CE156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1ABFE-9241-6101-C12B-EC8ED4A64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43243-8784-61F3-DF2A-47000B2E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48019-C282-3546-BCB6-2E7CC7BE557B}" type="datetime1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3963E-FA61-8EF1-F7CE-68E2E411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4B91F-327D-2687-88BF-A14BAF8E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97EA-569F-C901-2E33-AA0B9CAE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FDEE8-0B3A-5889-6E75-7CBA36F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3E44-F667-024C-8B44-D37B53383DBC}" type="datetime1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E4D92-E4A9-0085-D6C4-3FE24F41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83404-E5CF-5D62-0349-CFBADC77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4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1E98F-B207-81FF-F223-A073D1D8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744C-63B3-6D45-BE7B-7B945815D95B}" type="datetime1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C6731-9EF5-68FB-C734-3F321606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9A55C-0A88-7CE9-10C4-5E5EB48B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1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3380-1803-B658-F539-D9AEDB2D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CE999-939E-A44F-D48D-C3183B06A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5BFD8-1920-66D4-D53C-D3409E3BA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79AE9-A9CA-B73C-1A92-F919D006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8B7D-5F66-A541-B222-8989FA6B548F}" type="datetime1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8D76F-4F5E-2339-028C-82808132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372D6-40F5-0A99-A301-8DC14533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75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C6BD-CE78-60DC-AC87-5DDD8BB3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949B5E-A8F2-9230-716E-AE6912A3E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95E36-BC20-A8DE-D028-B78B28098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C311C-C090-8BAE-8977-880E4014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63396-EE92-B442-B7C0-B7E782356FE9}" type="datetime1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D147A-B06A-7B9D-4CEB-215151F2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01840-B525-9161-7364-5F7F653E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6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D624-FAA0-8B85-7ADF-FF79C9D3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CB12A-B8FE-CC11-DEFC-6E4F5BCE0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9192D-73E8-2FF1-A7B3-667D3631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BB59-5B74-0149-871A-8B7EA119342B}" type="datetime1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30B9B-098F-5587-012E-1A6C735A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DB19A-3D4C-97F7-7BF9-76932583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8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4D7BA-9228-F492-F3B7-23A1FA373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6C5F5-EF5A-5BB6-7314-F216E0B51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BF359-E897-F4D0-E760-E3DB77AA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3740C-1148-E54B-AA92-B3058372EDFE}" type="datetime1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A363F-5B4D-2A9C-DC68-2E349D71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CFE7A-7E71-EB97-E2EE-8881B8A2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6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4674D-64AC-9DF1-2560-B55DE8B4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136526"/>
            <a:ext cx="11821886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D545C-E0A1-5AAE-0A37-B0620C76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713" y="1825625"/>
            <a:ext cx="118218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E72D3-64D1-0B27-2F66-7B2FAEB42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771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8D93F513-4F77-6F4A-B4D0-D65DE4F46C67}" type="datetime1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FE468-936B-148A-D671-62EE06855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0B915-1CF2-84E2-259E-120953B7A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63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1C2E281D-7D25-E04C-B322-488ECBBBDB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4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Lato" panose="020F050202020403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o.go.kr/" TargetMode="External"/><Relationship Id="rId2" Type="http://schemas.openxmlformats.org/officeDocument/2006/relationships/hyperlink" Target="https://doi.org/10.3390/ijgi703008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45D0-226E-62E2-60AA-4363A2441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7055" y="1712311"/>
            <a:ext cx="10377890" cy="1495331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dirty="0"/>
              <a:t>Classification of Military Installations in North Korea on OpenStreetMap using Machine Learning</a:t>
            </a: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B44AA-2910-36EC-39C4-7D65CE82E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055" y="3429000"/>
            <a:ext cx="11284945" cy="294314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April 24, 2025</a:t>
            </a:r>
          </a:p>
          <a:p>
            <a:pPr algn="l"/>
            <a:r>
              <a:rPr lang="en-US" dirty="0"/>
              <a:t>Jun, </a:t>
            </a:r>
            <a:r>
              <a:rPr lang="en-US" dirty="0" err="1"/>
              <a:t>Youngsang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37B56-E531-53A9-A04F-E7E8CB3FCBEC}"/>
              </a:ext>
            </a:extLst>
          </p:cNvPr>
          <p:cNvSpPr txBox="1"/>
          <p:nvPr/>
        </p:nvSpPr>
        <p:spPr>
          <a:xfrm>
            <a:off x="907055" y="476032"/>
            <a:ext cx="518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" panose="020F0502020204030203" pitchFamily="34" charset="77"/>
              </a:rPr>
              <a:t>MUSA 6500 Deep Learning with Python</a:t>
            </a:r>
          </a:p>
          <a:p>
            <a:r>
              <a:rPr lang="en-US" dirty="0">
                <a:latin typeface="Lato" panose="020F0502020204030203" pitchFamily="34" charset="77"/>
              </a:rPr>
              <a:t>University of Pennsylvania</a:t>
            </a:r>
          </a:p>
        </p:txBody>
      </p:sp>
    </p:spTree>
    <p:extLst>
      <p:ext uri="{BB962C8B-B14F-4D97-AF65-F5344CB8AC3E}">
        <p14:creationId xmlns:p14="http://schemas.microsoft.com/office/powerpoint/2010/main" val="330625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4B762-D2D7-0E92-444B-71E2FC37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Image and Polygons of Military Land Use in </a:t>
            </a:r>
            <a:r>
              <a:rPr lang="en-US" dirty="0" err="1"/>
              <a:t>nK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EE2E33-290B-D17B-B392-7A2F1843711C}"/>
              </a:ext>
            </a:extLst>
          </p:cNvPr>
          <p:cNvGrpSpPr/>
          <p:nvPr/>
        </p:nvGrpSpPr>
        <p:grpSpPr>
          <a:xfrm>
            <a:off x="1967039" y="1551779"/>
            <a:ext cx="7807499" cy="4767093"/>
            <a:chOff x="2050166" y="1718034"/>
            <a:chExt cx="7807499" cy="476709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BA48240-F071-34B3-3007-D013CA36121F}"/>
                </a:ext>
              </a:extLst>
            </p:cNvPr>
            <p:cNvGrpSpPr/>
            <p:nvPr/>
          </p:nvGrpSpPr>
          <p:grpSpPr>
            <a:xfrm>
              <a:off x="2050166" y="4181271"/>
              <a:ext cx="1810636" cy="2191896"/>
              <a:chOff x="2377043" y="1357723"/>
              <a:chExt cx="4543555" cy="550027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F69025D-9432-E92B-C181-8157C2C0A4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4455"/>
              <a:stretch/>
            </p:blipFill>
            <p:spPr>
              <a:xfrm>
                <a:off x="2377043" y="1357723"/>
                <a:ext cx="4543555" cy="5500277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7882D6-ACA0-64F5-8CDD-10175758C91C}"/>
                  </a:ext>
                </a:extLst>
              </p:cNvPr>
              <p:cNvSpPr/>
              <p:nvPr/>
            </p:nvSpPr>
            <p:spPr>
              <a:xfrm>
                <a:off x="3064476" y="3138616"/>
                <a:ext cx="1037967" cy="108739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978E0CB-E823-0191-3CEB-130F9DA9CF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4112" y="1718034"/>
              <a:ext cx="2052211" cy="317293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2E4A16-AE8F-D2B2-6263-75022FE6CD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7749" y="1782042"/>
              <a:ext cx="6997688" cy="310892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930EFC4-5843-0F4F-755C-4124F46BCE81}"/>
                </a:ext>
              </a:extLst>
            </p:cNvPr>
            <p:cNvCxnSpPr>
              <a:cxnSpLocks/>
            </p:cNvCxnSpPr>
            <p:nvPr/>
          </p:nvCxnSpPr>
          <p:spPr>
            <a:xfrm>
              <a:off x="2334335" y="5348168"/>
              <a:ext cx="2052211" cy="1072951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487A071-305E-4B88-4A8D-DDAF18565449}"/>
                </a:ext>
              </a:extLst>
            </p:cNvPr>
            <p:cNvCxnSpPr>
              <a:cxnSpLocks/>
            </p:cNvCxnSpPr>
            <p:nvPr/>
          </p:nvCxnSpPr>
          <p:spPr>
            <a:xfrm>
              <a:off x="2747972" y="5324302"/>
              <a:ext cx="7109693" cy="1160825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950C54-A3B3-5E8E-47BA-C67900E67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6323" y="1718034"/>
              <a:ext cx="5359114" cy="470308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5DB5F8A-BE01-F0B7-02D4-7C7C54C35B29}"/>
              </a:ext>
            </a:extLst>
          </p:cNvPr>
          <p:cNvSpPr txBox="1"/>
          <p:nvPr/>
        </p:nvSpPr>
        <p:spPr>
          <a:xfrm>
            <a:off x="217713" y="63521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Lato" panose="020F0502020204030203" pitchFamily="34" charset="77"/>
              </a:rPr>
              <a:t>(c) </a:t>
            </a:r>
            <a:r>
              <a:rPr lang="en-US" dirty="0">
                <a:latin typeface="Lato" panose="020F0502020204030203" pitchFamily="34" charset="77"/>
              </a:rPr>
              <a:t>Google, </a:t>
            </a:r>
            <a:r>
              <a:rPr lang="en-US" dirty="0" err="1">
                <a:latin typeface="Lato" panose="020F0502020204030203" pitchFamily="34" charset="77"/>
              </a:rPr>
              <a:t>Mapbox</a:t>
            </a:r>
            <a:r>
              <a:rPr lang="en-US" dirty="0">
                <a:latin typeface="Lato" panose="020F0502020204030203" pitchFamily="34" charset="77"/>
              </a:rPr>
              <a:t>, OpenStreetMap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075819-39A6-CAE9-C891-7098626F5D6A}"/>
              </a:ext>
            </a:extLst>
          </p:cNvPr>
          <p:cNvSpPr/>
          <p:nvPr/>
        </p:nvSpPr>
        <p:spPr>
          <a:xfrm>
            <a:off x="7467600" y="3617832"/>
            <a:ext cx="216569" cy="21656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07B9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BA77D4-8384-5983-E2A6-ECEDFAA21995}"/>
              </a:ext>
            </a:extLst>
          </p:cNvPr>
          <p:cNvSpPr txBox="1"/>
          <p:nvPr/>
        </p:nvSpPr>
        <p:spPr>
          <a:xfrm>
            <a:off x="6195628" y="3297038"/>
            <a:ext cx="169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77"/>
              </a:rPr>
              <a:t>Pyongyang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868312A8-FD99-0FD1-0C49-FD319975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6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910D-CD62-1BDC-FFA5-90351E26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Attribute Data of Military Land Use of </a:t>
            </a:r>
            <a:r>
              <a:rPr lang="en-US" dirty="0" err="1"/>
              <a:t>nK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5AF422-E54D-DF97-DD5C-7C1D03C8B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132446"/>
              </p:ext>
            </p:extLst>
          </p:nvPr>
        </p:nvGraphicFramePr>
        <p:xfrm>
          <a:off x="463085" y="3183853"/>
          <a:ext cx="8545576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9524">
                  <a:extLst>
                    <a:ext uri="{9D8B030D-6E8A-4147-A177-3AD203B41FA5}">
                      <a16:colId xmlns:a16="http://schemas.microsoft.com/office/drawing/2014/main" val="3539706534"/>
                    </a:ext>
                  </a:extLst>
                </a:gridCol>
                <a:gridCol w="1864439">
                  <a:extLst>
                    <a:ext uri="{9D8B030D-6E8A-4147-A177-3AD203B41FA5}">
                      <a16:colId xmlns:a16="http://schemas.microsoft.com/office/drawing/2014/main" val="1654297860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2307746285"/>
                    </a:ext>
                  </a:extLst>
                </a:gridCol>
                <a:gridCol w="1241885">
                  <a:extLst>
                    <a:ext uri="{9D8B030D-6E8A-4147-A177-3AD203B41FA5}">
                      <a16:colId xmlns:a16="http://schemas.microsoft.com/office/drawing/2014/main" val="830122014"/>
                    </a:ext>
                  </a:extLst>
                </a:gridCol>
                <a:gridCol w="886690">
                  <a:extLst>
                    <a:ext uri="{9D8B030D-6E8A-4147-A177-3AD203B41FA5}">
                      <a16:colId xmlns:a16="http://schemas.microsoft.com/office/drawing/2014/main" val="1322734694"/>
                    </a:ext>
                  </a:extLst>
                </a:gridCol>
                <a:gridCol w="656991">
                  <a:extLst>
                    <a:ext uri="{9D8B030D-6E8A-4147-A177-3AD203B41FA5}">
                      <a16:colId xmlns:a16="http://schemas.microsoft.com/office/drawing/2014/main" val="193384831"/>
                    </a:ext>
                  </a:extLst>
                </a:gridCol>
                <a:gridCol w="1507525">
                  <a:extLst>
                    <a:ext uri="{9D8B030D-6E8A-4147-A177-3AD203B41FA5}">
                      <a16:colId xmlns:a16="http://schemas.microsoft.com/office/drawing/2014/main" val="3183189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ID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Category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Nation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Land use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Geometry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84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Airfield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Training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1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Lato" panose="020F0502020204030203" pitchFamily="34" charset="77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Lato" panose="020F0502020204030203" pitchFamily="34" charset="77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501818"/>
                  </a:ext>
                </a:extLst>
              </a:tr>
            </a:tbl>
          </a:graphicData>
        </a:graphic>
      </p:graphicFrame>
      <p:sp>
        <p:nvSpPr>
          <p:cNvPr id="7" name="Trapezoid 6">
            <a:extLst>
              <a:ext uri="{FF2B5EF4-FFF2-40B4-BE49-F238E27FC236}">
                <a16:creationId xmlns:a16="http://schemas.microsoft.com/office/drawing/2014/main" id="{80286EF9-20B5-B920-8182-309833FA5724}"/>
              </a:ext>
            </a:extLst>
          </p:cNvPr>
          <p:cNvSpPr/>
          <p:nvPr/>
        </p:nvSpPr>
        <p:spPr>
          <a:xfrm>
            <a:off x="463084" y="2522400"/>
            <a:ext cx="8515815" cy="622681"/>
          </a:xfrm>
          <a:prstGeom prst="trapezoid">
            <a:avLst>
              <a:gd name="adj" fmla="val 551425"/>
            </a:avLst>
          </a:prstGeom>
          <a:gradFill flip="none" rotWithShape="1">
            <a:gsLst>
              <a:gs pos="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C69BCE79-6BA1-3742-6356-075A6DDAC24B}"/>
              </a:ext>
            </a:extLst>
          </p:cNvPr>
          <p:cNvSpPr/>
          <p:nvPr/>
        </p:nvSpPr>
        <p:spPr>
          <a:xfrm>
            <a:off x="3749640" y="1333047"/>
            <a:ext cx="2178467" cy="1295399"/>
          </a:xfrm>
          <a:prstGeom prst="can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OpenStreetMap (</a:t>
            </a:r>
            <a:r>
              <a:rPr lang="en-US" dirty="0" err="1">
                <a:latin typeface="Lato" panose="020F0502020204030203" pitchFamily="34" charset="77"/>
              </a:rPr>
              <a:t>GeoJSON</a:t>
            </a:r>
            <a:r>
              <a:rPr lang="en-US" dirty="0">
                <a:latin typeface="Lato" panose="020F0502020204030203" pitchFamily="34" charset="77"/>
              </a:rPr>
              <a:t> type)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4552C-C90B-E5F3-E1A4-04C0DA3CE8DB}"/>
              </a:ext>
            </a:extLst>
          </p:cNvPr>
          <p:cNvSpPr/>
          <p:nvPr/>
        </p:nvSpPr>
        <p:spPr>
          <a:xfrm>
            <a:off x="7065817" y="1256619"/>
            <a:ext cx="4433455" cy="1371827"/>
          </a:xfrm>
          <a:custGeom>
            <a:avLst/>
            <a:gdLst>
              <a:gd name="connsiteX0" fmla="*/ 0 w 4433455"/>
              <a:gd name="connsiteY0" fmla="*/ 0 h 1371827"/>
              <a:gd name="connsiteX1" fmla="*/ 589016 w 4433455"/>
              <a:gd name="connsiteY1" fmla="*/ 0 h 1371827"/>
              <a:gd name="connsiteX2" fmla="*/ 1266701 w 4433455"/>
              <a:gd name="connsiteY2" fmla="*/ 0 h 1371827"/>
              <a:gd name="connsiteX3" fmla="*/ 1944387 w 4433455"/>
              <a:gd name="connsiteY3" fmla="*/ 0 h 1371827"/>
              <a:gd name="connsiteX4" fmla="*/ 2577737 w 4433455"/>
              <a:gd name="connsiteY4" fmla="*/ 0 h 1371827"/>
              <a:gd name="connsiteX5" fmla="*/ 3122419 w 4433455"/>
              <a:gd name="connsiteY5" fmla="*/ 0 h 1371827"/>
              <a:gd name="connsiteX6" fmla="*/ 3711435 w 4433455"/>
              <a:gd name="connsiteY6" fmla="*/ 0 h 1371827"/>
              <a:gd name="connsiteX7" fmla="*/ 4433455 w 4433455"/>
              <a:gd name="connsiteY7" fmla="*/ 0 h 1371827"/>
              <a:gd name="connsiteX8" fmla="*/ 4433455 w 4433455"/>
              <a:gd name="connsiteY8" fmla="*/ 713350 h 1371827"/>
              <a:gd name="connsiteX9" fmla="*/ 4433455 w 4433455"/>
              <a:gd name="connsiteY9" fmla="*/ 1371827 h 1371827"/>
              <a:gd name="connsiteX10" fmla="*/ 3844439 w 4433455"/>
              <a:gd name="connsiteY10" fmla="*/ 1371827 h 1371827"/>
              <a:gd name="connsiteX11" fmla="*/ 3299757 w 4433455"/>
              <a:gd name="connsiteY11" fmla="*/ 1371827 h 1371827"/>
              <a:gd name="connsiteX12" fmla="*/ 2666407 w 4433455"/>
              <a:gd name="connsiteY12" fmla="*/ 1371827 h 1371827"/>
              <a:gd name="connsiteX13" fmla="*/ 2166059 w 4433455"/>
              <a:gd name="connsiteY13" fmla="*/ 1371827 h 1371827"/>
              <a:gd name="connsiteX14" fmla="*/ 1577043 w 4433455"/>
              <a:gd name="connsiteY14" fmla="*/ 1371827 h 1371827"/>
              <a:gd name="connsiteX15" fmla="*/ 988027 w 4433455"/>
              <a:gd name="connsiteY15" fmla="*/ 1371827 h 1371827"/>
              <a:gd name="connsiteX16" fmla="*/ 0 w 4433455"/>
              <a:gd name="connsiteY16" fmla="*/ 1371827 h 1371827"/>
              <a:gd name="connsiteX17" fmla="*/ 0 w 4433455"/>
              <a:gd name="connsiteY17" fmla="*/ 672195 h 1371827"/>
              <a:gd name="connsiteX18" fmla="*/ 0 w 4433455"/>
              <a:gd name="connsiteY18" fmla="*/ 0 h 137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33455" h="1371827" fill="none" extrusionOk="0">
                <a:moveTo>
                  <a:pt x="0" y="0"/>
                </a:moveTo>
                <a:cubicBezTo>
                  <a:pt x="221042" y="26670"/>
                  <a:pt x="428303" y="-8409"/>
                  <a:pt x="589016" y="0"/>
                </a:cubicBezTo>
                <a:cubicBezTo>
                  <a:pt x="749729" y="8409"/>
                  <a:pt x="966734" y="-7278"/>
                  <a:pt x="1266701" y="0"/>
                </a:cubicBezTo>
                <a:cubicBezTo>
                  <a:pt x="1566669" y="7278"/>
                  <a:pt x="1710323" y="-33836"/>
                  <a:pt x="1944387" y="0"/>
                </a:cubicBezTo>
                <a:cubicBezTo>
                  <a:pt x="2178451" y="33836"/>
                  <a:pt x="2421058" y="-23730"/>
                  <a:pt x="2577737" y="0"/>
                </a:cubicBezTo>
                <a:cubicBezTo>
                  <a:pt x="2734416" y="23730"/>
                  <a:pt x="2892293" y="-16335"/>
                  <a:pt x="3122419" y="0"/>
                </a:cubicBezTo>
                <a:cubicBezTo>
                  <a:pt x="3352545" y="16335"/>
                  <a:pt x="3521648" y="-10627"/>
                  <a:pt x="3711435" y="0"/>
                </a:cubicBezTo>
                <a:cubicBezTo>
                  <a:pt x="3901222" y="10627"/>
                  <a:pt x="4108366" y="-12600"/>
                  <a:pt x="4433455" y="0"/>
                </a:cubicBezTo>
                <a:cubicBezTo>
                  <a:pt x="4409607" y="202453"/>
                  <a:pt x="4466270" y="529256"/>
                  <a:pt x="4433455" y="713350"/>
                </a:cubicBezTo>
                <a:cubicBezTo>
                  <a:pt x="4400641" y="897444"/>
                  <a:pt x="4440370" y="1191536"/>
                  <a:pt x="4433455" y="1371827"/>
                </a:cubicBezTo>
                <a:cubicBezTo>
                  <a:pt x="4142576" y="1358162"/>
                  <a:pt x="4090991" y="1380288"/>
                  <a:pt x="3844439" y="1371827"/>
                </a:cubicBezTo>
                <a:cubicBezTo>
                  <a:pt x="3597887" y="1363366"/>
                  <a:pt x="3527121" y="1391616"/>
                  <a:pt x="3299757" y="1371827"/>
                </a:cubicBezTo>
                <a:cubicBezTo>
                  <a:pt x="3072393" y="1352038"/>
                  <a:pt x="2825823" y="1380836"/>
                  <a:pt x="2666407" y="1371827"/>
                </a:cubicBezTo>
                <a:cubicBezTo>
                  <a:pt x="2506991" y="1362819"/>
                  <a:pt x="2271505" y="1378727"/>
                  <a:pt x="2166059" y="1371827"/>
                </a:cubicBezTo>
                <a:cubicBezTo>
                  <a:pt x="2060613" y="1364927"/>
                  <a:pt x="1840808" y="1377587"/>
                  <a:pt x="1577043" y="1371827"/>
                </a:cubicBezTo>
                <a:cubicBezTo>
                  <a:pt x="1313278" y="1366067"/>
                  <a:pt x="1149469" y="1354262"/>
                  <a:pt x="988027" y="1371827"/>
                </a:cubicBezTo>
                <a:cubicBezTo>
                  <a:pt x="826585" y="1389392"/>
                  <a:pt x="409654" y="1356420"/>
                  <a:pt x="0" y="1371827"/>
                </a:cubicBezTo>
                <a:cubicBezTo>
                  <a:pt x="-4554" y="1022343"/>
                  <a:pt x="-16134" y="813892"/>
                  <a:pt x="0" y="672195"/>
                </a:cubicBezTo>
                <a:cubicBezTo>
                  <a:pt x="16134" y="530498"/>
                  <a:pt x="-19683" y="191312"/>
                  <a:pt x="0" y="0"/>
                </a:cubicBezTo>
                <a:close/>
              </a:path>
              <a:path w="4433455" h="1371827" stroke="0" extrusionOk="0">
                <a:moveTo>
                  <a:pt x="0" y="0"/>
                </a:moveTo>
                <a:cubicBezTo>
                  <a:pt x="118608" y="-8570"/>
                  <a:pt x="354120" y="2511"/>
                  <a:pt x="500347" y="0"/>
                </a:cubicBezTo>
                <a:cubicBezTo>
                  <a:pt x="646574" y="-2511"/>
                  <a:pt x="846731" y="-10106"/>
                  <a:pt x="1045029" y="0"/>
                </a:cubicBezTo>
                <a:cubicBezTo>
                  <a:pt x="1243327" y="10106"/>
                  <a:pt x="1441994" y="14751"/>
                  <a:pt x="1767048" y="0"/>
                </a:cubicBezTo>
                <a:cubicBezTo>
                  <a:pt x="2092102" y="-14751"/>
                  <a:pt x="2189974" y="22371"/>
                  <a:pt x="2400399" y="0"/>
                </a:cubicBezTo>
                <a:cubicBezTo>
                  <a:pt x="2610824" y="-22371"/>
                  <a:pt x="2722278" y="24975"/>
                  <a:pt x="3033750" y="0"/>
                </a:cubicBezTo>
                <a:cubicBezTo>
                  <a:pt x="3345222" y="-24975"/>
                  <a:pt x="3363394" y="15687"/>
                  <a:pt x="3578432" y="0"/>
                </a:cubicBezTo>
                <a:cubicBezTo>
                  <a:pt x="3793470" y="-15687"/>
                  <a:pt x="4142619" y="26852"/>
                  <a:pt x="4433455" y="0"/>
                </a:cubicBezTo>
                <a:cubicBezTo>
                  <a:pt x="4413401" y="184630"/>
                  <a:pt x="4406639" y="481851"/>
                  <a:pt x="4433455" y="658477"/>
                </a:cubicBezTo>
                <a:cubicBezTo>
                  <a:pt x="4460271" y="835103"/>
                  <a:pt x="4427094" y="1144388"/>
                  <a:pt x="4433455" y="1371827"/>
                </a:cubicBezTo>
                <a:cubicBezTo>
                  <a:pt x="4122284" y="1352967"/>
                  <a:pt x="3985909" y="1343531"/>
                  <a:pt x="3800104" y="1371827"/>
                </a:cubicBezTo>
                <a:cubicBezTo>
                  <a:pt x="3614299" y="1400123"/>
                  <a:pt x="3374749" y="1387388"/>
                  <a:pt x="3166754" y="1371827"/>
                </a:cubicBezTo>
                <a:cubicBezTo>
                  <a:pt x="2958759" y="1356267"/>
                  <a:pt x="2767848" y="1384857"/>
                  <a:pt x="2622072" y="1371827"/>
                </a:cubicBezTo>
                <a:cubicBezTo>
                  <a:pt x="2476296" y="1358797"/>
                  <a:pt x="2237042" y="1336383"/>
                  <a:pt x="1900052" y="1371827"/>
                </a:cubicBezTo>
                <a:cubicBezTo>
                  <a:pt x="1563062" y="1407271"/>
                  <a:pt x="1493983" y="1386919"/>
                  <a:pt x="1311036" y="1371827"/>
                </a:cubicBezTo>
                <a:cubicBezTo>
                  <a:pt x="1128089" y="1356735"/>
                  <a:pt x="987389" y="1359404"/>
                  <a:pt x="722020" y="1371827"/>
                </a:cubicBezTo>
                <a:cubicBezTo>
                  <a:pt x="456651" y="1384250"/>
                  <a:pt x="287000" y="1359543"/>
                  <a:pt x="0" y="1371827"/>
                </a:cubicBezTo>
                <a:cubicBezTo>
                  <a:pt x="-2102" y="1226073"/>
                  <a:pt x="-12041" y="860868"/>
                  <a:pt x="0" y="685914"/>
                </a:cubicBezTo>
                <a:cubicBezTo>
                  <a:pt x="12041" y="510960"/>
                  <a:pt x="-4955" y="279773"/>
                  <a:pt x="0" y="0"/>
                </a:cubicBezTo>
                <a:close/>
              </a:path>
            </a:pathLst>
          </a:custGeom>
          <a:solidFill>
            <a:srgbClr val="B3D8FF"/>
          </a:solidFill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i="1" dirty="0">
                <a:solidFill>
                  <a:srgbClr val="107B92"/>
                </a:solidFill>
                <a:latin typeface="Lato" panose="020F0502020204030203" pitchFamily="34" charset="77"/>
              </a:rPr>
              <a:t>Total 1,939 polygons, of which 231 have category values</a:t>
            </a:r>
            <a:endParaRPr lang="en-US" sz="2400" i="1" dirty="0">
              <a:solidFill>
                <a:srgbClr val="107B92"/>
              </a:solidFill>
              <a:latin typeface="Lato" panose="020F0502020204030203" pitchFamily="34" charset="77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E3201-3193-2076-E81C-11EBBDC6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4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8712-897B-80EC-9D55-9E5567AF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4E016-1E6C-CE41-D308-8AFBC223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complete classification of all military installations categories in </a:t>
            </a:r>
            <a:r>
              <a:rPr lang="en-US" sz="2400" dirty="0" err="1"/>
              <a:t>nK</a:t>
            </a:r>
            <a:r>
              <a:rPr lang="en-US" sz="2400" dirty="0"/>
              <a:t> based on satellite imagery and OpenStreetMap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A8287-DEFD-3F3C-8C78-61B52447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8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FB31-94B1-E628-CB4B-783B6FE6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2CBB1-8747-E316-59B8-7F163B77C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OpenStreetMap data is reliable enough for non-intelligence purposes, though it is user-contributed.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2C68D-4ACF-353A-9E32-B3B22E7D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3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>
            <a:extLst>
              <a:ext uri="{FF2B5EF4-FFF2-40B4-BE49-F238E27FC236}">
                <a16:creationId xmlns:a16="http://schemas.microsoft.com/office/drawing/2014/main" id="{8A5D3A7B-BC39-20C8-73B3-46E4389EF358}"/>
              </a:ext>
            </a:extLst>
          </p:cNvPr>
          <p:cNvSpPr/>
          <p:nvPr/>
        </p:nvSpPr>
        <p:spPr>
          <a:xfrm>
            <a:off x="1097280" y="1795549"/>
            <a:ext cx="9892145" cy="3384570"/>
          </a:xfrm>
          <a:prstGeom prst="frame">
            <a:avLst/>
          </a:prstGeom>
          <a:solidFill>
            <a:srgbClr val="79D6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03331-68A5-6848-543F-6BB4DF2E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ED7769-682D-BFE0-3635-1AD8FE67C66C}"/>
              </a:ext>
            </a:extLst>
          </p:cNvPr>
          <p:cNvSpPr/>
          <p:nvPr/>
        </p:nvSpPr>
        <p:spPr>
          <a:xfrm>
            <a:off x="217714" y="2924735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Data Collection and Processing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C6A5D-8856-6E4C-C731-2D7F60ED9589}"/>
              </a:ext>
            </a:extLst>
          </p:cNvPr>
          <p:cNvSpPr/>
          <p:nvPr/>
        </p:nvSpPr>
        <p:spPr>
          <a:xfrm>
            <a:off x="3095387" y="1497104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1</a:t>
            </a:r>
          </a:p>
          <a:p>
            <a:pPr algn="ctr"/>
            <a:r>
              <a:rPr lang="en-US" dirty="0">
                <a:latin typeface="Lato" panose="020F0502020204030203" pitchFamily="34" charset="77"/>
              </a:rPr>
              <a:t>(RF w/ directly obtained image values*)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D4B51-F4FD-83C8-7806-34B0798DEBA8}"/>
              </a:ext>
            </a:extLst>
          </p:cNvPr>
          <p:cNvSpPr/>
          <p:nvPr/>
        </p:nvSpPr>
        <p:spPr>
          <a:xfrm>
            <a:off x="6628505" y="1497103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1 training &amp;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E5731-801A-E82A-790E-30DA6C2C5A26}"/>
              </a:ext>
            </a:extLst>
          </p:cNvPr>
          <p:cNvSpPr txBox="1"/>
          <p:nvPr/>
        </p:nvSpPr>
        <p:spPr>
          <a:xfrm>
            <a:off x="1942780" y="336294"/>
            <a:ext cx="7153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C1D"/>
                </a:solidFill>
                <a:latin typeface="Lato" panose="020F0502020204030203" pitchFamily="34" charset="77"/>
              </a:rPr>
              <a:t>“N</a:t>
            </a:r>
            <a:r>
              <a:rPr lang="en-US" sz="2000" b="0" i="0" dirty="0">
                <a:solidFill>
                  <a:srgbClr val="1D1C1D"/>
                </a:solidFill>
                <a:effectLst/>
                <a:latin typeface="Lato" panose="020F0502020204030203" pitchFamily="34" charset="77"/>
              </a:rPr>
              <a:t>on-image ML problem that uses image-derived data”</a:t>
            </a:r>
            <a:endParaRPr lang="en-US" sz="2000" dirty="0">
              <a:latin typeface="Lato" panose="020F050202020403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BEFE4-720D-E0CC-F468-9E6862A2376C}"/>
              </a:ext>
            </a:extLst>
          </p:cNvPr>
          <p:cNvSpPr/>
          <p:nvPr/>
        </p:nvSpPr>
        <p:spPr>
          <a:xfrm>
            <a:off x="3095386" y="4352367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2</a:t>
            </a:r>
          </a:p>
          <a:p>
            <a:pPr algn="ctr"/>
            <a:r>
              <a:rPr lang="en-US" dirty="0">
                <a:latin typeface="Lato" panose="020F0502020204030203" pitchFamily="34" charset="77"/>
              </a:rPr>
              <a:t>(RF w/ image-based</a:t>
            </a:r>
            <a:br>
              <a:rPr lang="en-US" dirty="0">
                <a:latin typeface="Lato" panose="020F0502020204030203" pitchFamily="34" charset="77"/>
              </a:rPr>
            </a:br>
            <a:r>
              <a:rPr lang="en-US" dirty="0">
                <a:latin typeface="Lato" panose="020F0502020204030203" pitchFamily="34" charset="77"/>
              </a:rPr>
              <a:t> pre-trained model**)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2118F-29BD-9173-5202-303927BFEAE0}"/>
              </a:ext>
            </a:extLst>
          </p:cNvPr>
          <p:cNvSpPr/>
          <p:nvPr/>
        </p:nvSpPr>
        <p:spPr>
          <a:xfrm>
            <a:off x="6628504" y="4352367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2 training &amp;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1997AC-AD0C-2A64-CCD9-405B1BF8F8B5}"/>
              </a:ext>
            </a:extLst>
          </p:cNvPr>
          <p:cNvSpPr/>
          <p:nvPr/>
        </p:nvSpPr>
        <p:spPr>
          <a:xfrm>
            <a:off x="9320733" y="2924734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Compare two models’ performance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E2EA9-984B-98F3-32BF-987DBD2CA5F8}"/>
              </a:ext>
            </a:extLst>
          </p:cNvPr>
          <p:cNvSpPr txBox="1"/>
          <p:nvPr/>
        </p:nvSpPr>
        <p:spPr>
          <a:xfrm>
            <a:off x="3355943" y="5379887"/>
            <a:ext cx="7153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C1D"/>
                </a:solidFill>
                <a:latin typeface="Lato" panose="020F0502020204030203" pitchFamily="34" charset="77"/>
              </a:rPr>
              <a:t> ** Clay Foundation Model</a:t>
            </a:r>
            <a:endParaRPr lang="en-US" sz="2000" dirty="0">
              <a:latin typeface="Lato" panose="020F0502020204030203" pitchFamily="34" charset="77"/>
            </a:endParaRP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E9566BD2-A943-E8BA-9467-8800F0005CB1}"/>
              </a:ext>
            </a:extLst>
          </p:cNvPr>
          <p:cNvSpPr/>
          <p:nvPr/>
        </p:nvSpPr>
        <p:spPr>
          <a:xfrm>
            <a:off x="5919624" y="1746078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DB88094D-A387-0506-0D74-6F9625A723D5}"/>
              </a:ext>
            </a:extLst>
          </p:cNvPr>
          <p:cNvSpPr/>
          <p:nvPr/>
        </p:nvSpPr>
        <p:spPr>
          <a:xfrm>
            <a:off x="2058824" y="1746078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E3541353-22B2-7687-066A-53FE97EDEA52}"/>
              </a:ext>
            </a:extLst>
          </p:cNvPr>
          <p:cNvSpPr/>
          <p:nvPr/>
        </p:nvSpPr>
        <p:spPr>
          <a:xfrm rot="5400000">
            <a:off x="10490746" y="2295853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628BAB84-DB72-9B26-30F7-72F02531DFF6}"/>
              </a:ext>
            </a:extLst>
          </p:cNvPr>
          <p:cNvSpPr/>
          <p:nvPr/>
        </p:nvSpPr>
        <p:spPr>
          <a:xfrm>
            <a:off x="5919624" y="4714131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225E343B-315A-8E1F-2865-0BCEDBD39070}"/>
              </a:ext>
            </a:extLst>
          </p:cNvPr>
          <p:cNvSpPr/>
          <p:nvPr/>
        </p:nvSpPr>
        <p:spPr>
          <a:xfrm>
            <a:off x="2058824" y="4714131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BA1B02A8-1F59-C635-BBA7-C775F9881C22}"/>
              </a:ext>
            </a:extLst>
          </p:cNvPr>
          <p:cNvSpPr/>
          <p:nvPr/>
        </p:nvSpPr>
        <p:spPr>
          <a:xfrm rot="16200000">
            <a:off x="10490746" y="4139644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A30F36F0-2EE7-79D7-CCAE-E9876032F589}"/>
              </a:ext>
            </a:extLst>
          </p:cNvPr>
          <p:cNvSpPr/>
          <p:nvPr/>
        </p:nvSpPr>
        <p:spPr>
          <a:xfrm>
            <a:off x="4062499" y="5779997"/>
            <a:ext cx="719325" cy="809469"/>
          </a:xfrm>
          <a:prstGeom prst="upArrow">
            <a:avLst/>
          </a:prstGeom>
          <a:solidFill>
            <a:srgbClr val="107B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3BC890-4C14-B965-3E16-A23737C869BA}"/>
              </a:ext>
            </a:extLst>
          </p:cNvPr>
          <p:cNvSpPr txBox="1"/>
          <p:nvPr/>
        </p:nvSpPr>
        <p:spPr>
          <a:xfrm>
            <a:off x="3325963" y="2606706"/>
            <a:ext cx="2160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C1D"/>
                </a:solidFill>
                <a:latin typeface="Lato" panose="020F0502020204030203" pitchFamily="34" charset="77"/>
              </a:rPr>
              <a:t> * NDVI, BSI, NTL</a:t>
            </a:r>
            <a:endParaRPr lang="en-US" sz="2000" dirty="0">
              <a:latin typeface="Lato" panose="020F0502020204030203" pitchFamily="34" charset="77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544DA07-BCC7-AD47-BC12-F53F097D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52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910D-CD62-1BDC-FFA5-90351E26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Method: Data Processing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5AF422-E54D-DF97-DD5C-7C1D03C8BB18}"/>
              </a:ext>
            </a:extLst>
          </p:cNvPr>
          <p:cNvGraphicFramePr>
            <a:graphicFrameLocks noGrp="1"/>
          </p:cNvGraphicFramePr>
          <p:nvPr/>
        </p:nvGraphicFramePr>
        <p:xfrm>
          <a:off x="463085" y="3183853"/>
          <a:ext cx="8545576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9524">
                  <a:extLst>
                    <a:ext uri="{9D8B030D-6E8A-4147-A177-3AD203B41FA5}">
                      <a16:colId xmlns:a16="http://schemas.microsoft.com/office/drawing/2014/main" val="3539706534"/>
                    </a:ext>
                  </a:extLst>
                </a:gridCol>
                <a:gridCol w="1864439">
                  <a:extLst>
                    <a:ext uri="{9D8B030D-6E8A-4147-A177-3AD203B41FA5}">
                      <a16:colId xmlns:a16="http://schemas.microsoft.com/office/drawing/2014/main" val="1654297860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2307746285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012201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32273469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93384831"/>
                    </a:ext>
                  </a:extLst>
                </a:gridCol>
                <a:gridCol w="1507525">
                  <a:extLst>
                    <a:ext uri="{9D8B030D-6E8A-4147-A177-3AD203B41FA5}">
                      <a16:colId xmlns:a16="http://schemas.microsoft.com/office/drawing/2014/main" val="3183189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ID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Category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Nation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Area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Lat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Lng</a:t>
                      </a:r>
                      <a:endParaRPr lang="en-US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Geometry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84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Airfield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Training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1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Lato" panose="020F0502020204030203" pitchFamily="34" charset="77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Lato" panose="020F0502020204030203" pitchFamily="34" charset="77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501818"/>
                  </a:ext>
                </a:extLst>
              </a:tr>
            </a:tbl>
          </a:graphicData>
        </a:graphic>
      </p:graphicFrame>
      <p:sp>
        <p:nvSpPr>
          <p:cNvPr id="7" name="Trapezoid 6">
            <a:extLst>
              <a:ext uri="{FF2B5EF4-FFF2-40B4-BE49-F238E27FC236}">
                <a16:creationId xmlns:a16="http://schemas.microsoft.com/office/drawing/2014/main" id="{80286EF9-20B5-B920-8182-309833FA5724}"/>
              </a:ext>
            </a:extLst>
          </p:cNvPr>
          <p:cNvSpPr/>
          <p:nvPr/>
        </p:nvSpPr>
        <p:spPr>
          <a:xfrm>
            <a:off x="463084" y="2522400"/>
            <a:ext cx="8515815" cy="622681"/>
          </a:xfrm>
          <a:prstGeom prst="trapezoid">
            <a:avLst>
              <a:gd name="adj" fmla="val 551425"/>
            </a:avLst>
          </a:prstGeom>
          <a:gradFill flip="none" rotWithShape="1">
            <a:gsLst>
              <a:gs pos="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60907B-E489-88D9-DEFE-133D59C85C36}"/>
              </a:ext>
            </a:extLst>
          </p:cNvPr>
          <p:cNvGraphicFramePr>
            <a:graphicFrameLocks noGrp="1"/>
          </p:cNvGraphicFramePr>
          <p:nvPr/>
        </p:nvGraphicFramePr>
        <p:xfrm>
          <a:off x="9162631" y="3183853"/>
          <a:ext cx="2785566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8522">
                  <a:extLst>
                    <a:ext uri="{9D8B030D-6E8A-4147-A177-3AD203B41FA5}">
                      <a16:colId xmlns:a16="http://schemas.microsoft.com/office/drawing/2014/main" val="2023675189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7883731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74281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NDVI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BSI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NTL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84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1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501818"/>
                  </a:ext>
                </a:extLst>
              </a:tr>
            </a:tbl>
          </a:graphicData>
        </a:graphic>
      </p:graphicFrame>
      <p:sp>
        <p:nvSpPr>
          <p:cNvPr id="10" name="Trapezoid 9">
            <a:extLst>
              <a:ext uri="{FF2B5EF4-FFF2-40B4-BE49-F238E27FC236}">
                <a16:creationId xmlns:a16="http://schemas.microsoft.com/office/drawing/2014/main" id="{6315E35E-58D4-2BBA-C157-4BDD5DEB7862}"/>
              </a:ext>
            </a:extLst>
          </p:cNvPr>
          <p:cNvSpPr/>
          <p:nvPr/>
        </p:nvSpPr>
        <p:spPr>
          <a:xfrm>
            <a:off x="6467268" y="2522400"/>
            <a:ext cx="5470731" cy="622681"/>
          </a:xfrm>
          <a:custGeom>
            <a:avLst/>
            <a:gdLst>
              <a:gd name="connsiteX0" fmla="*/ 0 w 2686468"/>
              <a:gd name="connsiteY0" fmla="*/ 914400 h 914400"/>
              <a:gd name="connsiteX1" fmla="*/ 581238 w 2686468"/>
              <a:gd name="connsiteY1" fmla="*/ 0 h 914400"/>
              <a:gd name="connsiteX2" fmla="*/ 2105230 w 2686468"/>
              <a:gd name="connsiteY2" fmla="*/ 0 h 914400"/>
              <a:gd name="connsiteX3" fmla="*/ 2686468 w 2686468"/>
              <a:gd name="connsiteY3" fmla="*/ 914400 h 914400"/>
              <a:gd name="connsiteX4" fmla="*/ 0 w 2686468"/>
              <a:gd name="connsiteY4" fmla="*/ 914400 h 914400"/>
              <a:gd name="connsiteX0" fmla="*/ 2644562 w 5331030"/>
              <a:gd name="connsiteY0" fmla="*/ 914400 h 914400"/>
              <a:gd name="connsiteX1" fmla="*/ 0 w 5331030"/>
              <a:gd name="connsiteY1" fmla="*/ 0 h 914400"/>
              <a:gd name="connsiteX2" fmla="*/ 4749792 w 5331030"/>
              <a:gd name="connsiteY2" fmla="*/ 0 h 914400"/>
              <a:gd name="connsiteX3" fmla="*/ 5331030 w 5331030"/>
              <a:gd name="connsiteY3" fmla="*/ 914400 h 914400"/>
              <a:gd name="connsiteX4" fmla="*/ 2644562 w 5331030"/>
              <a:gd name="connsiteY4" fmla="*/ 914400 h 914400"/>
              <a:gd name="connsiteX0" fmla="*/ 2644562 w 5331030"/>
              <a:gd name="connsiteY0" fmla="*/ 914400 h 914400"/>
              <a:gd name="connsiteX1" fmla="*/ 0 w 5331030"/>
              <a:gd name="connsiteY1" fmla="*/ 0 h 914400"/>
              <a:gd name="connsiteX2" fmla="*/ 1777992 w 5331030"/>
              <a:gd name="connsiteY2" fmla="*/ 12700 h 914400"/>
              <a:gd name="connsiteX3" fmla="*/ 5331030 w 5331030"/>
              <a:gd name="connsiteY3" fmla="*/ 914400 h 914400"/>
              <a:gd name="connsiteX4" fmla="*/ 2644562 w 533103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1030" h="914400">
                <a:moveTo>
                  <a:pt x="2644562" y="914400"/>
                </a:moveTo>
                <a:lnTo>
                  <a:pt x="0" y="0"/>
                </a:lnTo>
                <a:lnTo>
                  <a:pt x="1777992" y="12700"/>
                </a:lnTo>
                <a:lnTo>
                  <a:pt x="5331030" y="914400"/>
                </a:lnTo>
                <a:lnTo>
                  <a:pt x="2644562" y="9144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C69BCE79-6BA1-3742-6356-075A6DDAC24B}"/>
              </a:ext>
            </a:extLst>
          </p:cNvPr>
          <p:cNvSpPr/>
          <p:nvPr/>
        </p:nvSpPr>
        <p:spPr>
          <a:xfrm>
            <a:off x="3749640" y="1333047"/>
            <a:ext cx="2178467" cy="1295399"/>
          </a:xfrm>
          <a:prstGeom prst="can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OpenStreetMap (</a:t>
            </a:r>
            <a:r>
              <a:rPr lang="en-US" dirty="0" err="1">
                <a:latin typeface="Lato" panose="020F0502020204030203" pitchFamily="34" charset="77"/>
              </a:rPr>
              <a:t>GeoJSON</a:t>
            </a:r>
            <a:r>
              <a:rPr lang="en-US" dirty="0">
                <a:latin typeface="Lato" panose="020F0502020204030203" pitchFamily="34" charset="77"/>
              </a:rPr>
              <a:t> type)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64B4CB27-DC57-ED76-05CB-44CAFF74B9ED}"/>
              </a:ext>
            </a:extLst>
          </p:cNvPr>
          <p:cNvSpPr/>
          <p:nvPr/>
        </p:nvSpPr>
        <p:spPr>
          <a:xfrm>
            <a:off x="6274852" y="1333047"/>
            <a:ext cx="2178467" cy="1295399"/>
          </a:xfrm>
          <a:prstGeom prst="can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Satellite Imagery (Sentinel-2, VIRRS)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F76842-8658-8D94-C825-C7EF0754BB8B}"/>
              </a:ext>
            </a:extLst>
          </p:cNvPr>
          <p:cNvSpPr/>
          <p:nvPr/>
        </p:nvSpPr>
        <p:spPr>
          <a:xfrm>
            <a:off x="4940300" y="3733347"/>
            <a:ext cx="2423786" cy="1567426"/>
          </a:xfrm>
          <a:custGeom>
            <a:avLst/>
            <a:gdLst>
              <a:gd name="connsiteX0" fmla="*/ 0 w 2423786"/>
              <a:gd name="connsiteY0" fmla="*/ 0 h 1567426"/>
              <a:gd name="connsiteX1" fmla="*/ 533233 w 2423786"/>
              <a:gd name="connsiteY1" fmla="*/ 0 h 1567426"/>
              <a:gd name="connsiteX2" fmla="*/ 1090704 w 2423786"/>
              <a:gd name="connsiteY2" fmla="*/ 0 h 1567426"/>
              <a:gd name="connsiteX3" fmla="*/ 1745126 w 2423786"/>
              <a:gd name="connsiteY3" fmla="*/ 0 h 1567426"/>
              <a:gd name="connsiteX4" fmla="*/ 2423786 w 2423786"/>
              <a:gd name="connsiteY4" fmla="*/ 0 h 1567426"/>
              <a:gd name="connsiteX5" fmla="*/ 2423786 w 2423786"/>
              <a:gd name="connsiteY5" fmla="*/ 522475 h 1567426"/>
              <a:gd name="connsiteX6" fmla="*/ 2423786 w 2423786"/>
              <a:gd name="connsiteY6" fmla="*/ 1076299 h 1567426"/>
              <a:gd name="connsiteX7" fmla="*/ 2423786 w 2423786"/>
              <a:gd name="connsiteY7" fmla="*/ 1567426 h 1567426"/>
              <a:gd name="connsiteX8" fmla="*/ 1890553 w 2423786"/>
              <a:gd name="connsiteY8" fmla="*/ 1567426 h 1567426"/>
              <a:gd name="connsiteX9" fmla="*/ 1236131 w 2423786"/>
              <a:gd name="connsiteY9" fmla="*/ 1567426 h 1567426"/>
              <a:gd name="connsiteX10" fmla="*/ 630184 w 2423786"/>
              <a:gd name="connsiteY10" fmla="*/ 1567426 h 1567426"/>
              <a:gd name="connsiteX11" fmla="*/ 0 w 2423786"/>
              <a:gd name="connsiteY11" fmla="*/ 1567426 h 1567426"/>
              <a:gd name="connsiteX12" fmla="*/ 0 w 2423786"/>
              <a:gd name="connsiteY12" fmla="*/ 1076299 h 1567426"/>
              <a:gd name="connsiteX13" fmla="*/ 0 w 2423786"/>
              <a:gd name="connsiteY13" fmla="*/ 553824 h 1567426"/>
              <a:gd name="connsiteX14" fmla="*/ 0 w 2423786"/>
              <a:gd name="connsiteY14" fmla="*/ 0 h 15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3786" h="1567426" extrusionOk="0">
                <a:moveTo>
                  <a:pt x="0" y="0"/>
                </a:moveTo>
                <a:cubicBezTo>
                  <a:pt x="114954" y="19435"/>
                  <a:pt x="387735" y="-25340"/>
                  <a:pt x="533233" y="0"/>
                </a:cubicBezTo>
                <a:cubicBezTo>
                  <a:pt x="678731" y="25340"/>
                  <a:pt x="899273" y="-13505"/>
                  <a:pt x="1090704" y="0"/>
                </a:cubicBezTo>
                <a:cubicBezTo>
                  <a:pt x="1282135" y="13505"/>
                  <a:pt x="1421449" y="24076"/>
                  <a:pt x="1745126" y="0"/>
                </a:cubicBezTo>
                <a:cubicBezTo>
                  <a:pt x="2068803" y="-24076"/>
                  <a:pt x="2207079" y="30797"/>
                  <a:pt x="2423786" y="0"/>
                </a:cubicBezTo>
                <a:cubicBezTo>
                  <a:pt x="2429528" y="112636"/>
                  <a:pt x="2422142" y="356623"/>
                  <a:pt x="2423786" y="522475"/>
                </a:cubicBezTo>
                <a:cubicBezTo>
                  <a:pt x="2425430" y="688327"/>
                  <a:pt x="2417625" y="839836"/>
                  <a:pt x="2423786" y="1076299"/>
                </a:cubicBezTo>
                <a:cubicBezTo>
                  <a:pt x="2429947" y="1312762"/>
                  <a:pt x="2420808" y="1383478"/>
                  <a:pt x="2423786" y="1567426"/>
                </a:cubicBezTo>
                <a:cubicBezTo>
                  <a:pt x="2259427" y="1557810"/>
                  <a:pt x="2073295" y="1548962"/>
                  <a:pt x="1890553" y="1567426"/>
                </a:cubicBezTo>
                <a:cubicBezTo>
                  <a:pt x="1707811" y="1585890"/>
                  <a:pt x="1499265" y="1567971"/>
                  <a:pt x="1236131" y="1567426"/>
                </a:cubicBezTo>
                <a:cubicBezTo>
                  <a:pt x="972997" y="1566881"/>
                  <a:pt x="888456" y="1591351"/>
                  <a:pt x="630184" y="1567426"/>
                </a:cubicBezTo>
                <a:cubicBezTo>
                  <a:pt x="371912" y="1543501"/>
                  <a:pt x="207778" y="1594101"/>
                  <a:pt x="0" y="1567426"/>
                </a:cubicBezTo>
                <a:cubicBezTo>
                  <a:pt x="1633" y="1345255"/>
                  <a:pt x="14081" y="1303747"/>
                  <a:pt x="0" y="1076299"/>
                </a:cubicBezTo>
                <a:cubicBezTo>
                  <a:pt x="-14081" y="848851"/>
                  <a:pt x="18963" y="794687"/>
                  <a:pt x="0" y="553824"/>
                </a:cubicBezTo>
                <a:cubicBezTo>
                  <a:pt x="-18963" y="312962"/>
                  <a:pt x="-16077" y="159769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Calculated from Geometry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8939D6-1B0E-2880-0A56-E39891F9EC12}"/>
              </a:ext>
            </a:extLst>
          </p:cNvPr>
          <p:cNvSpPr/>
          <p:nvPr/>
        </p:nvSpPr>
        <p:spPr>
          <a:xfrm>
            <a:off x="9359900" y="3733347"/>
            <a:ext cx="2423786" cy="1567426"/>
          </a:xfrm>
          <a:custGeom>
            <a:avLst/>
            <a:gdLst>
              <a:gd name="connsiteX0" fmla="*/ 0 w 2423786"/>
              <a:gd name="connsiteY0" fmla="*/ 0 h 1567426"/>
              <a:gd name="connsiteX1" fmla="*/ 581709 w 2423786"/>
              <a:gd name="connsiteY1" fmla="*/ 0 h 1567426"/>
              <a:gd name="connsiteX2" fmla="*/ 1114942 w 2423786"/>
              <a:gd name="connsiteY2" fmla="*/ 0 h 1567426"/>
              <a:gd name="connsiteX3" fmla="*/ 1769364 w 2423786"/>
              <a:gd name="connsiteY3" fmla="*/ 0 h 1567426"/>
              <a:gd name="connsiteX4" fmla="*/ 2423786 w 2423786"/>
              <a:gd name="connsiteY4" fmla="*/ 0 h 1567426"/>
              <a:gd name="connsiteX5" fmla="*/ 2423786 w 2423786"/>
              <a:gd name="connsiteY5" fmla="*/ 506801 h 1567426"/>
              <a:gd name="connsiteX6" fmla="*/ 2423786 w 2423786"/>
              <a:gd name="connsiteY6" fmla="*/ 997928 h 1567426"/>
              <a:gd name="connsiteX7" fmla="*/ 2423786 w 2423786"/>
              <a:gd name="connsiteY7" fmla="*/ 1567426 h 1567426"/>
              <a:gd name="connsiteX8" fmla="*/ 1817840 w 2423786"/>
              <a:gd name="connsiteY8" fmla="*/ 1567426 h 1567426"/>
              <a:gd name="connsiteX9" fmla="*/ 1284607 w 2423786"/>
              <a:gd name="connsiteY9" fmla="*/ 1567426 h 1567426"/>
              <a:gd name="connsiteX10" fmla="*/ 678660 w 2423786"/>
              <a:gd name="connsiteY10" fmla="*/ 1567426 h 1567426"/>
              <a:gd name="connsiteX11" fmla="*/ 0 w 2423786"/>
              <a:gd name="connsiteY11" fmla="*/ 1567426 h 1567426"/>
              <a:gd name="connsiteX12" fmla="*/ 0 w 2423786"/>
              <a:gd name="connsiteY12" fmla="*/ 1060625 h 1567426"/>
              <a:gd name="connsiteX13" fmla="*/ 0 w 2423786"/>
              <a:gd name="connsiteY13" fmla="*/ 553824 h 1567426"/>
              <a:gd name="connsiteX14" fmla="*/ 0 w 2423786"/>
              <a:gd name="connsiteY14" fmla="*/ 0 h 15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3786" h="1567426" extrusionOk="0">
                <a:moveTo>
                  <a:pt x="0" y="0"/>
                </a:moveTo>
                <a:cubicBezTo>
                  <a:pt x="266545" y="19482"/>
                  <a:pt x="371326" y="-489"/>
                  <a:pt x="581709" y="0"/>
                </a:cubicBezTo>
                <a:cubicBezTo>
                  <a:pt x="792092" y="489"/>
                  <a:pt x="854130" y="25184"/>
                  <a:pt x="1114942" y="0"/>
                </a:cubicBezTo>
                <a:cubicBezTo>
                  <a:pt x="1375754" y="-25184"/>
                  <a:pt x="1587583" y="-17310"/>
                  <a:pt x="1769364" y="0"/>
                </a:cubicBezTo>
                <a:cubicBezTo>
                  <a:pt x="1951145" y="17310"/>
                  <a:pt x="2232165" y="-9987"/>
                  <a:pt x="2423786" y="0"/>
                </a:cubicBezTo>
                <a:cubicBezTo>
                  <a:pt x="2446602" y="217468"/>
                  <a:pt x="2438611" y="352012"/>
                  <a:pt x="2423786" y="506801"/>
                </a:cubicBezTo>
                <a:cubicBezTo>
                  <a:pt x="2408961" y="661590"/>
                  <a:pt x="2443841" y="857873"/>
                  <a:pt x="2423786" y="997928"/>
                </a:cubicBezTo>
                <a:cubicBezTo>
                  <a:pt x="2403731" y="1137983"/>
                  <a:pt x="2411288" y="1443641"/>
                  <a:pt x="2423786" y="1567426"/>
                </a:cubicBezTo>
                <a:cubicBezTo>
                  <a:pt x="2139944" y="1560944"/>
                  <a:pt x="2105959" y="1563973"/>
                  <a:pt x="1817840" y="1567426"/>
                </a:cubicBezTo>
                <a:cubicBezTo>
                  <a:pt x="1529721" y="1570879"/>
                  <a:pt x="1440177" y="1563657"/>
                  <a:pt x="1284607" y="1567426"/>
                </a:cubicBezTo>
                <a:cubicBezTo>
                  <a:pt x="1129037" y="1571195"/>
                  <a:pt x="972807" y="1561465"/>
                  <a:pt x="678660" y="1567426"/>
                </a:cubicBezTo>
                <a:cubicBezTo>
                  <a:pt x="384513" y="1573387"/>
                  <a:pt x="220408" y="1552103"/>
                  <a:pt x="0" y="1567426"/>
                </a:cubicBezTo>
                <a:cubicBezTo>
                  <a:pt x="6137" y="1389250"/>
                  <a:pt x="15653" y="1287656"/>
                  <a:pt x="0" y="1060625"/>
                </a:cubicBezTo>
                <a:cubicBezTo>
                  <a:pt x="-15653" y="833594"/>
                  <a:pt x="-5202" y="677132"/>
                  <a:pt x="0" y="553824"/>
                </a:cubicBezTo>
                <a:cubicBezTo>
                  <a:pt x="5202" y="430516"/>
                  <a:pt x="-24613" y="179238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Clipped by polygons and calculated from Imagery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B51459-1AC0-0D14-3AC1-BF9993EB2C75}"/>
              </a:ext>
            </a:extLst>
          </p:cNvPr>
          <p:cNvSpPr/>
          <p:nvPr/>
        </p:nvSpPr>
        <p:spPr>
          <a:xfrm>
            <a:off x="2044700" y="4706109"/>
            <a:ext cx="1689100" cy="594664"/>
          </a:xfrm>
          <a:custGeom>
            <a:avLst/>
            <a:gdLst>
              <a:gd name="connsiteX0" fmla="*/ 0 w 1689100"/>
              <a:gd name="connsiteY0" fmla="*/ 0 h 594664"/>
              <a:gd name="connsiteX1" fmla="*/ 512360 w 1689100"/>
              <a:gd name="connsiteY1" fmla="*/ 0 h 594664"/>
              <a:gd name="connsiteX2" fmla="*/ 1041612 w 1689100"/>
              <a:gd name="connsiteY2" fmla="*/ 0 h 594664"/>
              <a:gd name="connsiteX3" fmla="*/ 1689100 w 1689100"/>
              <a:gd name="connsiteY3" fmla="*/ 0 h 594664"/>
              <a:gd name="connsiteX4" fmla="*/ 1689100 w 1689100"/>
              <a:gd name="connsiteY4" fmla="*/ 594664 h 594664"/>
              <a:gd name="connsiteX5" fmla="*/ 1176740 w 1689100"/>
              <a:gd name="connsiteY5" fmla="*/ 594664 h 594664"/>
              <a:gd name="connsiteX6" fmla="*/ 664379 w 1689100"/>
              <a:gd name="connsiteY6" fmla="*/ 594664 h 594664"/>
              <a:gd name="connsiteX7" fmla="*/ 0 w 1689100"/>
              <a:gd name="connsiteY7" fmla="*/ 594664 h 594664"/>
              <a:gd name="connsiteX8" fmla="*/ 0 w 1689100"/>
              <a:gd name="connsiteY8" fmla="*/ 0 h 59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9100" h="594664" extrusionOk="0">
                <a:moveTo>
                  <a:pt x="0" y="0"/>
                </a:moveTo>
                <a:cubicBezTo>
                  <a:pt x="106669" y="-19716"/>
                  <a:pt x="270812" y="821"/>
                  <a:pt x="512360" y="0"/>
                </a:cubicBezTo>
                <a:cubicBezTo>
                  <a:pt x="753908" y="-821"/>
                  <a:pt x="901206" y="10620"/>
                  <a:pt x="1041612" y="0"/>
                </a:cubicBezTo>
                <a:cubicBezTo>
                  <a:pt x="1182018" y="-10620"/>
                  <a:pt x="1451177" y="-6663"/>
                  <a:pt x="1689100" y="0"/>
                </a:cubicBezTo>
                <a:cubicBezTo>
                  <a:pt x="1711172" y="267302"/>
                  <a:pt x="1694376" y="413496"/>
                  <a:pt x="1689100" y="594664"/>
                </a:cubicBezTo>
                <a:cubicBezTo>
                  <a:pt x="1498815" y="596967"/>
                  <a:pt x="1304231" y="605150"/>
                  <a:pt x="1176740" y="594664"/>
                </a:cubicBezTo>
                <a:cubicBezTo>
                  <a:pt x="1049249" y="584178"/>
                  <a:pt x="783841" y="614041"/>
                  <a:pt x="664379" y="594664"/>
                </a:cubicBezTo>
                <a:cubicBezTo>
                  <a:pt x="544917" y="575287"/>
                  <a:pt x="200605" y="611943"/>
                  <a:pt x="0" y="594664"/>
                </a:cubicBezTo>
                <a:cubicBezTo>
                  <a:pt x="-5311" y="312205"/>
                  <a:pt x="-15771" y="293053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Prediction</a:t>
            </a:r>
            <a:b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</a:br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using RF model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031C00B-8024-A9A7-7162-51C9BBA08F78}"/>
              </a:ext>
            </a:extLst>
          </p:cNvPr>
          <p:cNvGraphicFramePr>
            <a:graphicFrameLocks noGrp="1"/>
          </p:cNvGraphicFramePr>
          <p:nvPr/>
        </p:nvGraphicFramePr>
        <p:xfrm>
          <a:off x="460903" y="5506047"/>
          <a:ext cx="854557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9524">
                  <a:extLst>
                    <a:ext uri="{9D8B030D-6E8A-4147-A177-3AD203B41FA5}">
                      <a16:colId xmlns:a16="http://schemas.microsoft.com/office/drawing/2014/main" val="3539706534"/>
                    </a:ext>
                  </a:extLst>
                </a:gridCol>
                <a:gridCol w="1864439">
                  <a:extLst>
                    <a:ext uri="{9D8B030D-6E8A-4147-A177-3AD203B41FA5}">
                      <a16:colId xmlns:a16="http://schemas.microsoft.com/office/drawing/2014/main" val="1654297860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2307746285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012201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32273469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93384831"/>
                    </a:ext>
                  </a:extLst>
                </a:gridCol>
                <a:gridCol w="1507525">
                  <a:extLst>
                    <a:ext uri="{9D8B030D-6E8A-4147-A177-3AD203B41FA5}">
                      <a16:colId xmlns:a16="http://schemas.microsoft.com/office/drawing/2014/main" val="3183189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Airfield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Training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6A62ECF-D303-8C21-1DB1-09900CEFFB8E}"/>
              </a:ext>
            </a:extLst>
          </p:cNvPr>
          <p:cNvGraphicFramePr>
            <a:graphicFrameLocks noGrp="1"/>
          </p:cNvGraphicFramePr>
          <p:nvPr/>
        </p:nvGraphicFramePr>
        <p:xfrm>
          <a:off x="9162631" y="5506047"/>
          <a:ext cx="278556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8522">
                  <a:extLst>
                    <a:ext uri="{9D8B030D-6E8A-4147-A177-3AD203B41FA5}">
                      <a16:colId xmlns:a16="http://schemas.microsoft.com/office/drawing/2014/main" val="2023675189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7883731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74281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8A5A8C2-CFC2-EE13-4938-35C5023F0D56}"/>
              </a:ext>
            </a:extLst>
          </p:cNvPr>
          <p:cNvSpPr/>
          <p:nvPr/>
        </p:nvSpPr>
        <p:spPr>
          <a:xfrm>
            <a:off x="4940300" y="3733346"/>
            <a:ext cx="2423786" cy="2347413"/>
          </a:xfrm>
          <a:custGeom>
            <a:avLst/>
            <a:gdLst>
              <a:gd name="connsiteX0" fmla="*/ 0 w 2423786"/>
              <a:gd name="connsiteY0" fmla="*/ 0 h 2347413"/>
              <a:gd name="connsiteX1" fmla="*/ 533233 w 2423786"/>
              <a:gd name="connsiteY1" fmla="*/ 0 h 2347413"/>
              <a:gd name="connsiteX2" fmla="*/ 1090704 w 2423786"/>
              <a:gd name="connsiteY2" fmla="*/ 0 h 2347413"/>
              <a:gd name="connsiteX3" fmla="*/ 1745126 w 2423786"/>
              <a:gd name="connsiteY3" fmla="*/ 0 h 2347413"/>
              <a:gd name="connsiteX4" fmla="*/ 2423786 w 2423786"/>
              <a:gd name="connsiteY4" fmla="*/ 0 h 2347413"/>
              <a:gd name="connsiteX5" fmla="*/ 2423786 w 2423786"/>
              <a:gd name="connsiteY5" fmla="*/ 586853 h 2347413"/>
              <a:gd name="connsiteX6" fmla="*/ 2423786 w 2423786"/>
              <a:gd name="connsiteY6" fmla="*/ 1220655 h 2347413"/>
              <a:gd name="connsiteX7" fmla="*/ 2423786 w 2423786"/>
              <a:gd name="connsiteY7" fmla="*/ 1737086 h 2347413"/>
              <a:gd name="connsiteX8" fmla="*/ 2423786 w 2423786"/>
              <a:gd name="connsiteY8" fmla="*/ 2347413 h 2347413"/>
              <a:gd name="connsiteX9" fmla="*/ 1793602 w 2423786"/>
              <a:gd name="connsiteY9" fmla="*/ 2347413 h 2347413"/>
              <a:gd name="connsiteX10" fmla="*/ 1187655 w 2423786"/>
              <a:gd name="connsiteY10" fmla="*/ 2347413 h 2347413"/>
              <a:gd name="connsiteX11" fmla="*/ 581709 w 2423786"/>
              <a:gd name="connsiteY11" fmla="*/ 2347413 h 2347413"/>
              <a:gd name="connsiteX12" fmla="*/ 0 w 2423786"/>
              <a:gd name="connsiteY12" fmla="*/ 2347413 h 2347413"/>
              <a:gd name="connsiteX13" fmla="*/ 0 w 2423786"/>
              <a:gd name="connsiteY13" fmla="*/ 1713611 h 2347413"/>
              <a:gd name="connsiteX14" fmla="*/ 0 w 2423786"/>
              <a:gd name="connsiteY14" fmla="*/ 1126758 h 2347413"/>
              <a:gd name="connsiteX15" fmla="*/ 0 w 2423786"/>
              <a:gd name="connsiteY15" fmla="*/ 586853 h 2347413"/>
              <a:gd name="connsiteX16" fmla="*/ 0 w 2423786"/>
              <a:gd name="connsiteY16" fmla="*/ 0 h 234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23786" h="2347413" extrusionOk="0">
                <a:moveTo>
                  <a:pt x="0" y="0"/>
                </a:moveTo>
                <a:cubicBezTo>
                  <a:pt x="114954" y="19435"/>
                  <a:pt x="387735" y="-25340"/>
                  <a:pt x="533233" y="0"/>
                </a:cubicBezTo>
                <a:cubicBezTo>
                  <a:pt x="678731" y="25340"/>
                  <a:pt x="899273" y="-13505"/>
                  <a:pt x="1090704" y="0"/>
                </a:cubicBezTo>
                <a:cubicBezTo>
                  <a:pt x="1282135" y="13505"/>
                  <a:pt x="1421449" y="24076"/>
                  <a:pt x="1745126" y="0"/>
                </a:cubicBezTo>
                <a:cubicBezTo>
                  <a:pt x="2068803" y="-24076"/>
                  <a:pt x="2207079" y="30797"/>
                  <a:pt x="2423786" y="0"/>
                </a:cubicBezTo>
                <a:cubicBezTo>
                  <a:pt x="2434140" y="278607"/>
                  <a:pt x="2431780" y="329661"/>
                  <a:pt x="2423786" y="586853"/>
                </a:cubicBezTo>
                <a:cubicBezTo>
                  <a:pt x="2415792" y="844045"/>
                  <a:pt x="2450199" y="978148"/>
                  <a:pt x="2423786" y="1220655"/>
                </a:cubicBezTo>
                <a:cubicBezTo>
                  <a:pt x="2397373" y="1463162"/>
                  <a:pt x="2442804" y="1513826"/>
                  <a:pt x="2423786" y="1737086"/>
                </a:cubicBezTo>
                <a:cubicBezTo>
                  <a:pt x="2404768" y="1960346"/>
                  <a:pt x="2417591" y="2203566"/>
                  <a:pt x="2423786" y="2347413"/>
                </a:cubicBezTo>
                <a:cubicBezTo>
                  <a:pt x="2146353" y="2378294"/>
                  <a:pt x="2015396" y="2370249"/>
                  <a:pt x="1793602" y="2347413"/>
                </a:cubicBezTo>
                <a:cubicBezTo>
                  <a:pt x="1571808" y="2324577"/>
                  <a:pt x="1445927" y="2371338"/>
                  <a:pt x="1187655" y="2347413"/>
                </a:cubicBezTo>
                <a:cubicBezTo>
                  <a:pt x="929383" y="2323488"/>
                  <a:pt x="762712" y="2331496"/>
                  <a:pt x="581709" y="2347413"/>
                </a:cubicBezTo>
                <a:cubicBezTo>
                  <a:pt x="400706" y="2363330"/>
                  <a:pt x="252003" y="2343584"/>
                  <a:pt x="0" y="2347413"/>
                </a:cubicBezTo>
                <a:cubicBezTo>
                  <a:pt x="-21815" y="2106223"/>
                  <a:pt x="-10653" y="1912015"/>
                  <a:pt x="0" y="1713611"/>
                </a:cubicBezTo>
                <a:cubicBezTo>
                  <a:pt x="10653" y="1515207"/>
                  <a:pt x="-17711" y="1379912"/>
                  <a:pt x="0" y="1126758"/>
                </a:cubicBezTo>
                <a:cubicBezTo>
                  <a:pt x="17711" y="873604"/>
                  <a:pt x="25271" y="791686"/>
                  <a:pt x="0" y="586853"/>
                </a:cubicBezTo>
                <a:cubicBezTo>
                  <a:pt x="-25271" y="382020"/>
                  <a:pt x="-2080" y="122834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Calculated from Geometry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38DB00-0A20-E3BF-EDBC-ECA5D6A52692}"/>
              </a:ext>
            </a:extLst>
          </p:cNvPr>
          <p:cNvSpPr/>
          <p:nvPr/>
        </p:nvSpPr>
        <p:spPr>
          <a:xfrm>
            <a:off x="9359900" y="3733346"/>
            <a:ext cx="2423786" cy="2347413"/>
          </a:xfrm>
          <a:custGeom>
            <a:avLst/>
            <a:gdLst>
              <a:gd name="connsiteX0" fmla="*/ 0 w 2423786"/>
              <a:gd name="connsiteY0" fmla="*/ 0 h 2347413"/>
              <a:gd name="connsiteX1" fmla="*/ 581709 w 2423786"/>
              <a:gd name="connsiteY1" fmla="*/ 0 h 2347413"/>
              <a:gd name="connsiteX2" fmla="*/ 1114942 w 2423786"/>
              <a:gd name="connsiteY2" fmla="*/ 0 h 2347413"/>
              <a:gd name="connsiteX3" fmla="*/ 1769364 w 2423786"/>
              <a:gd name="connsiteY3" fmla="*/ 0 h 2347413"/>
              <a:gd name="connsiteX4" fmla="*/ 2423786 w 2423786"/>
              <a:gd name="connsiteY4" fmla="*/ 0 h 2347413"/>
              <a:gd name="connsiteX5" fmla="*/ 2423786 w 2423786"/>
              <a:gd name="connsiteY5" fmla="*/ 563379 h 2347413"/>
              <a:gd name="connsiteX6" fmla="*/ 2423786 w 2423786"/>
              <a:gd name="connsiteY6" fmla="*/ 1103284 h 2347413"/>
              <a:gd name="connsiteX7" fmla="*/ 2423786 w 2423786"/>
              <a:gd name="connsiteY7" fmla="*/ 1690137 h 2347413"/>
              <a:gd name="connsiteX8" fmla="*/ 2423786 w 2423786"/>
              <a:gd name="connsiteY8" fmla="*/ 2347413 h 2347413"/>
              <a:gd name="connsiteX9" fmla="*/ 1866315 w 2423786"/>
              <a:gd name="connsiteY9" fmla="*/ 2347413 h 2347413"/>
              <a:gd name="connsiteX10" fmla="*/ 1260369 w 2423786"/>
              <a:gd name="connsiteY10" fmla="*/ 2347413 h 2347413"/>
              <a:gd name="connsiteX11" fmla="*/ 654422 w 2423786"/>
              <a:gd name="connsiteY11" fmla="*/ 2347413 h 2347413"/>
              <a:gd name="connsiteX12" fmla="*/ 0 w 2423786"/>
              <a:gd name="connsiteY12" fmla="*/ 2347413 h 2347413"/>
              <a:gd name="connsiteX13" fmla="*/ 0 w 2423786"/>
              <a:gd name="connsiteY13" fmla="*/ 1713611 h 2347413"/>
              <a:gd name="connsiteX14" fmla="*/ 0 w 2423786"/>
              <a:gd name="connsiteY14" fmla="*/ 1079810 h 2347413"/>
              <a:gd name="connsiteX15" fmla="*/ 0 w 2423786"/>
              <a:gd name="connsiteY15" fmla="*/ 0 h 234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23786" h="2347413" extrusionOk="0">
                <a:moveTo>
                  <a:pt x="0" y="0"/>
                </a:moveTo>
                <a:cubicBezTo>
                  <a:pt x="266545" y="19482"/>
                  <a:pt x="371326" y="-489"/>
                  <a:pt x="581709" y="0"/>
                </a:cubicBezTo>
                <a:cubicBezTo>
                  <a:pt x="792092" y="489"/>
                  <a:pt x="854130" y="25184"/>
                  <a:pt x="1114942" y="0"/>
                </a:cubicBezTo>
                <a:cubicBezTo>
                  <a:pt x="1375754" y="-25184"/>
                  <a:pt x="1587583" y="-17310"/>
                  <a:pt x="1769364" y="0"/>
                </a:cubicBezTo>
                <a:cubicBezTo>
                  <a:pt x="1951145" y="17310"/>
                  <a:pt x="2232165" y="-9987"/>
                  <a:pt x="2423786" y="0"/>
                </a:cubicBezTo>
                <a:cubicBezTo>
                  <a:pt x="2426116" y="134364"/>
                  <a:pt x="2421236" y="334783"/>
                  <a:pt x="2423786" y="563379"/>
                </a:cubicBezTo>
                <a:cubicBezTo>
                  <a:pt x="2426336" y="791975"/>
                  <a:pt x="2418788" y="839475"/>
                  <a:pt x="2423786" y="1103284"/>
                </a:cubicBezTo>
                <a:cubicBezTo>
                  <a:pt x="2428784" y="1367094"/>
                  <a:pt x="2401494" y="1512778"/>
                  <a:pt x="2423786" y="1690137"/>
                </a:cubicBezTo>
                <a:cubicBezTo>
                  <a:pt x="2446078" y="1867496"/>
                  <a:pt x="2449019" y="2094560"/>
                  <a:pt x="2423786" y="2347413"/>
                </a:cubicBezTo>
                <a:cubicBezTo>
                  <a:pt x="2301270" y="2319591"/>
                  <a:pt x="2019369" y="2371758"/>
                  <a:pt x="1866315" y="2347413"/>
                </a:cubicBezTo>
                <a:cubicBezTo>
                  <a:pt x="1713261" y="2323068"/>
                  <a:pt x="1553068" y="2336569"/>
                  <a:pt x="1260369" y="2347413"/>
                </a:cubicBezTo>
                <a:cubicBezTo>
                  <a:pt x="967670" y="2358257"/>
                  <a:pt x="810251" y="2332403"/>
                  <a:pt x="654422" y="2347413"/>
                </a:cubicBezTo>
                <a:cubicBezTo>
                  <a:pt x="498593" y="2362423"/>
                  <a:pt x="279894" y="2323917"/>
                  <a:pt x="0" y="2347413"/>
                </a:cubicBezTo>
                <a:cubicBezTo>
                  <a:pt x="-4891" y="2087480"/>
                  <a:pt x="31270" y="1858803"/>
                  <a:pt x="0" y="1713611"/>
                </a:cubicBezTo>
                <a:cubicBezTo>
                  <a:pt x="-31270" y="1568419"/>
                  <a:pt x="-19462" y="1213421"/>
                  <a:pt x="0" y="1079810"/>
                </a:cubicBezTo>
                <a:cubicBezTo>
                  <a:pt x="19462" y="946199"/>
                  <a:pt x="10079" y="346938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Clipped by polygons and calculated from Imagery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0EA161-7B63-FF56-B1DD-DD027F3A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128" y="814887"/>
            <a:ext cx="4165472" cy="556798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470AD-8618-2C61-C03E-E267F4A1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8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11" grpId="0" animBg="1"/>
      <p:bldP spid="11" grpId="1" animBg="1"/>
      <p:bldP spid="12" grpId="0" animBg="1"/>
      <p:bldP spid="12" grpId="1" animBg="1"/>
      <p:bldP spid="15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48E0-ECF9-965B-5DD8-57A41486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AC63-3A42-7A50-7B8D-FEB87956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5,988 objects including labeled unlabeled </a:t>
            </a:r>
            <a:r>
              <a:rPr lang="en-US" sz="2400" dirty="0" err="1"/>
              <a:t>nK</a:t>
            </a:r>
            <a:r>
              <a:rPr lang="en-US" sz="2400" dirty="0"/>
              <a:t> areas and labeled non-</a:t>
            </a:r>
            <a:r>
              <a:rPr lang="en-US" sz="2400" dirty="0" err="1"/>
              <a:t>nK</a:t>
            </a:r>
            <a:r>
              <a:rPr lang="en-US" sz="2400" dirty="0"/>
              <a:t> areas.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3ACE1B-1012-BBF1-77E9-3DE71A32F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932339"/>
              </p:ext>
            </p:extLst>
          </p:nvPr>
        </p:nvGraphicFramePr>
        <p:xfrm>
          <a:off x="1630556" y="3065830"/>
          <a:ext cx="9342244" cy="18709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5561">
                  <a:extLst>
                    <a:ext uri="{9D8B030D-6E8A-4147-A177-3AD203B41FA5}">
                      <a16:colId xmlns:a16="http://schemas.microsoft.com/office/drawing/2014/main" val="4143516112"/>
                    </a:ext>
                  </a:extLst>
                </a:gridCol>
                <a:gridCol w="2335561">
                  <a:extLst>
                    <a:ext uri="{9D8B030D-6E8A-4147-A177-3AD203B41FA5}">
                      <a16:colId xmlns:a16="http://schemas.microsoft.com/office/drawing/2014/main" val="1982356322"/>
                    </a:ext>
                  </a:extLst>
                </a:gridCol>
                <a:gridCol w="1704897">
                  <a:extLst>
                    <a:ext uri="{9D8B030D-6E8A-4147-A177-3AD203B41FA5}">
                      <a16:colId xmlns:a16="http://schemas.microsoft.com/office/drawing/2014/main" val="1430128119"/>
                    </a:ext>
                  </a:extLst>
                </a:gridCol>
                <a:gridCol w="2966225">
                  <a:extLst>
                    <a:ext uri="{9D8B030D-6E8A-4147-A177-3AD203B41FA5}">
                      <a16:colId xmlns:a16="http://schemas.microsoft.com/office/drawing/2014/main" val="1030217950"/>
                    </a:ext>
                  </a:extLst>
                </a:gridCol>
              </a:tblGrid>
              <a:tr h="387567"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Lato" panose="020F0502020204030203" pitchFamily="34" charset="77"/>
                        </a:rPr>
                        <a:t>Nation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Lato" panose="020F0502020204030203" pitchFamily="34" charset="77"/>
                        </a:rPr>
                        <a:t>Label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Lato" panose="020F0502020204030203" pitchFamily="34" charset="77"/>
                        </a:rPr>
                        <a:t># of Objects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Lato" panose="020F0502020204030203" pitchFamily="34" charset="77"/>
                        </a:rPr>
                        <a:t>Usage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684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unlabeled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Lato" panose="020F0502020204030203" pitchFamily="34" charset="77"/>
                        </a:rPr>
                        <a:t>1,708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To predict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1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labeled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Lato" panose="020F0502020204030203" pitchFamily="34" charset="77"/>
                        </a:rPr>
                        <a:t>231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To train and validate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55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Non-</a:t>
                      </a:r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labeled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Lato" panose="020F0502020204030203" pitchFamily="34" charset="77"/>
                        </a:rPr>
                        <a:t>4,049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To train and validate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56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Total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Lato" panose="020F0502020204030203" pitchFamily="34" charset="77"/>
                        </a:rPr>
                        <a:t>5,988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31913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316FD-1364-2046-0C35-C6663052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1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AD38-4726-B977-922C-A9C21121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Model 1 </a:t>
            </a:r>
            <a:r>
              <a:rPr lang="en-US" b="0" dirty="0"/>
              <a:t>(RF w/ directly obtained image values) </a:t>
            </a:r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3F5BB-014D-2E25-5B22-3716998B5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Independent variables: Nation, latitude, longitude, area, NDVI, BSI, NTL</a:t>
            </a:r>
          </a:p>
          <a:p>
            <a:r>
              <a:rPr lang="en-US" sz="2400" dirty="0"/>
              <a:t>Dependent variable: Classification (# of categories: 8)</a:t>
            </a:r>
          </a:p>
          <a:p>
            <a:r>
              <a:rPr lang="en-US" sz="2400" dirty="0"/>
              <a:t>Used 4,280 labeled data</a:t>
            </a:r>
          </a:p>
          <a:p>
            <a:r>
              <a:rPr lang="en-US" sz="2400" dirty="0"/>
              <a:t>For validation, train 40% (1,735), test 60% (2,545) split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7002-7250-2AC7-F087-0B14D4EF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A001-CFD2-92B9-D957-CDB76201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Model 1 Overall accuracy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B5098-E7A2-37FE-217A-CC6F11EB3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89" y="1825625"/>
            <a:ext cx="6410449" cy="39250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CC3BC-749E-6B84-A3A0-39C4CC68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2285599"/>
            <a:ext cx="1973260" cy="3817221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Airfield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Base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Checkpoint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Danger Area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Naval Base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Range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Training Area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2000" dirty="0"/>
              <a:t>Trench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557295-8A01-BB0D-6697-5566331865AF}"/>
              </a:ext>
            </a:extLst>
          </p:cNvPr>
          <p:cNvSpPr/>
          <p:nvPr/>
        </p:nvSpPr>
        <p:spPr>
          <a:xfrm>
            <a:off x="7065817" y="421387"/>
            <a:ext cx="4433455" cy="1371827"/>
          </a:xfrm>
          <a:custGeom>
            <a:avLst/>
            <a:gdLst>
              <a:gd name="connsiteX0" fmla="*/ 0 w 4433455"/>
              <a:gd name="connsiteY0" fmla="*/ 0 h 1371827"/>
              <a:gd name="connsiteX1" fmla="*/ 589016 w 4433455"/>
              <a:gd name="connsiteY1" fmla="*/ 0 h 1371827"/>
              <a:gd name="connsiteX2" fmla="*/ 1266701 w 4433455"/>
              <a:gd name="connsiteY2" fmla="*/ 0 h 1371827"/>
              <a:gd name="connsiteX3" fmla="*/ 1944387 w 4433455"/>
              <a:gd name="connsiteY3" fmla="*/ 0 h 1371827"/>
              <a:gd name="connsiteX4" fmla="*/ 2577737 w 4433455"/>
              <a:gd name="connsiteY4" fmla="*/ 0 h 1371827"/>
              <a:gd name="connsiteX5" fmla="*/ 3122419 w 4433455"/>
              <a:gd name="connsiteY5" fmla="*/ 0 h 1371827"/>
              <a:gd name="connsiteX6" fmla="*/ 3711435 w 4433455"/>
              <a:gd name="connsiteY6" fmla="*/ 0 h 1371827"/>
              <a:gd name="connsiteX7" fmla="*/ 4433455 w 4433455"/>
              <a:gd name="connsiteY7" fmla="*/ 0 h 1371827"/>
              <a:gd name="connsiteX8" fmla="*/ 4433455 w 4433455"/>
              <a:gd name="connsiteY8" fmla="*/ 713350 h 1371827"/>
              <a:gd name="connsiteX9" fmla="*/ 4433455 w 4433455"/>
              <a:gd name="connsiteY9" fmla="*/ 1371827 h 1371827"/>
              <a:gd name="connsiteX10" fmla="*/ 3844439 w 4433455"/>
              <a:gd name="connsiteY10" fmla="*/ 1371827 h 1371827"/>
              <a:gd name="connsiteX11" fmla="*/ 3299757 w 4433455"/>
              <a:gd name="connsiteY11" fmla="*/ 1371827 h 1371827"/>
              <a:gd name="connsiteX12" fmla="*/ 2666407 w 4433455"/>
              <a:gd name="connsiteY12" fmla="*/ 1371827 h 1371827"/>
              <a:gd name="connsiteX13" fmla="*/ 2166059 w 4433455"/>
              <a:gd name="connsiteY13" fmla="*/ 1371827 h 1371827"/>
              <a:gd name="connsiteX14" fmla="*/ 1577043 w 4433455"/>
              <a:gd name="connsiteY14" fmla="*/ 1371827 h 1371827"/>
              <a:gd name="connsiteX15" fmla="*/ 988027 w 4433455"/>
              <a:gd name="connsiteY15" fmla="*/ 1371827 h 1371827"/>
              <a:gd name="connsiteX16" fmla="*/ 0 w 4433455"/>
              <a:gd name="connsiteY16" fmla="*/ 1371827 h 1371827"/>
              <a:gd name="connsiteX17" fmla="*/ 0 w 4433455"/>
              <a:gd name="connsiteY17" fmla="*/ 672195 h 1371827"/>
              <a:gd name="connsiteX18" fmla="*/ 0 w 4433455"/>
              <a:gd name="connsiteY18" fmla="*/ 0 h 137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33455" h="1371827" fill="none" extrusionOk="0">
                <a:moveTo>
                  <a:pt x="0" y="0"/>
                </a:moveTo>
                <a:cubicBezTo>
                  <a:pt x="221042" y="26670"/>
                  <a:pt x="428303" y="-8409"/>
                  <a:pt x="589016" y="0"/>
                </a:cubicBezTo>
                <a:cubicBezTo>
                  <a:pt x="749729" y="8409"/>
                  <a:pt x="966734" y="-7278"/>
                  <a:pt x="1266701" y="0"/>
                </a:cubicBezTo>
                <a:cubicBezTo>
                  <a:pt x="1566669" y="7278"/>
                  <a:pt x="1710323" y="-33836"/>
                  <a:pt x="1944387" y="0"/>
                </a:cubicBezTo>
                <a:cubicBezTo>
                  <a:pt x="2178451" y="33836"/>
                  <a:pt x="2421058" y="-23730"/>
                  <a:pt x="2577737" y="0"/>
                </a:cubicBezTo>
                <a:cubicBezTo>
                  <a:pt x="2734416" y="23730"/>
                  <a:pt x="2892293" y="-16335"/>
                  <a:pt x="3122419" y="0"/>
                </a:cubicBezTo>
                <a:cubicBezTo>
                  <a:pt x="3352545" y="16335"/>
                  <a:pt x="3521648" y="-10627"/>
                  <a:pt x="3711435" y="0"/>
                </a:cubicBezTo>
                <a:cubicBezTo>
                  <a:pt x="3901222" y="10627"/>
                  <a:pt x="4108366" y="-12600"/>
                  <a:pt x="4433455" y="0"/>
                </a:cubicBezTo>
                <a:cubicBezTo>
                  <a:pt x="4409607" y="202453"/>
                  <a:pt x="4466270" y="529256"/>
                  <a:pt x="4433455" y="713350"/>
                </a:cubicBezTo>
                <a:cubicBezTo>
                  <a:pt x="4400641" y="897444"/>
                  <a:pt x="4440370" y="1191536"/>
                  <a:pt x="4433455" y="1371827"/>
                </a:cubicBezTo>
                <a:cubicBezTo>
                  <a:pt x="4142576" y="1358162"/>
                  <a:pt x="4090991" y="1380288"/>
                  <a:pt x="3844439" y="1371827"/>
                </a:cubicBezTo>
                <a:cubicBezTo>
                  <a:pt x="3597887" y="1363366"/>
                  <a:pt x="3527121" y="1391616"/>
                  <a:pt x="3299757" y="1371827"/>
                </a:cubicBezTo>
                <a:cubicBezTo>
                  <a:pt x="3072393" y="1352038"/>
                  <a:pt x="2825823" y="1380836"/>
                  <a:pt x="2666407" y="1371827"/>
                </a:cubicBezTo>
                <a:cubicBezTo>
                  <a:pt x="2506991" y="1362819"/>
                  <a:pt x="2271505" y="1378727"/>
                  <a:pt x="2166059" y="1371827"/>
                </a:cubicBezTo>
                <a:cubicBezTo>
                  <a:pt x="2060613" y="1364927"/>
                  <a:pt x="1840808" y="1377587"/>
                  <a:pt x="1577043" y="1371827"/>
                </a:cubicBezTo>
                <a:cubicBezTo>
                  <a:pt x="1313278" y="1366067"/>
                  <a:pt x="1149469" y="1354262"/>
                  <a:pt x="988027" y="1371827"/>
                </a:cubicBezTo>
                <a:cubicBezTo>
                  <a:pt x="826585" y="1389392"/>
                  <a:pt x="409654" y="1356420"/>
                  <a:pt x="0" y="1371827"/>
                </a:cubicBezTo>
                <a:cubicBezTo>
                  <a:pt x="-4554" y="1022343"/>
                  <a:pt x="-16134" y="813892"/>
                  <a:pt x="0" y="672195"/>
                </a:cubicBezTo>
                <a:cubicBezTo>
                  <a:pt x="16134" y="530498"/>
                  <a:pt x="-19683" y="191312"/>
                  <a:pt x="0" y="0"/>
                </a:cubicBezTo>
                <a:close/>
              </a:path>
              <a:path w="4433455" h="1371827" stroke="0" extrusionOk="0">
                <a:moveTo>
                  <a:pt x="0" y="0"/>
                </a:moveTo>
                <a:cubicBezTo>
                  <a:pt x="118608" y="-8570"/>
                  <a:pt x="354120" y="2511"/>
                  <a:pt x="500347" y="0"/>
                </a:cubicBezTo>
                <a:cubicBezTo>
                  <a:pt x="646574" y="-2511"/>
                  <a:pt x="846731" y="-10106"/>
                  <a:pt x="1045029" y="0"/>
                </a:cubicBezTo>
                <a:cubicBezTo>
                  <a:pt x="1243327" y="10106"/>
                  <a:pt x="1441994" y="14751"/>
                  <a:pt x="1767048" y="0"/>
                </a:cubicBezTo>
                <a:cubicBezTo>
                  <a:pt x="2092102" y="-14751"/>
                  <a:pt x="2189974" y="22371"/>
                  <a:pt x="2400399" y="0"/>
                </a:cubicBezTo>
                <a:cubicBezTo>
                  <a:pt x="2610824" y="-22371"/>
                  <a:pt x="2722278" y="24975"/>
                  <a:pt x="3033750" y="0"/>
                </a:cubicBezTo>
                <a:cubicBezTo>
                  <a:pt x="3345222" y="-24975"/>
                  <a:pt x="3363394" y="15687"/>
                  <a:pt x="3578432" y="0"/>
                </a:cubicBezTo>
                <a:cubicBezTo>
                  <a:pt x="3793470" y="-15687"/>
                  <a:pt x="4142619" y="26852"/>
                  <a:pt x="4433455" y="0"/>
                </a:cubicBezTo>
                <a:cubicBezTo>
                  <a:pt x="4413401" y="184630"/>
                  <a:pt x="4406639" y="481851"/>
                  <a:pt x="4433455" y="658477"/>
                </a:cubicBezTo>
                <a:cubicBezTo>
                  <a:pt x="4460271" y="835103"/>
                  <a:pt x="4427094" y="1144388"/>
                  <a:pt x="4433455" y="1371827"/>
                </a:cubicBezTo>
                <a:cubicBezTo>
                  <a:pt x="4122284" y="1352967"/>
                  <a:pt x="3985909" y="1343531"/>
                  <a:pt x="3800104" y="1371827"/>
                </a:cubicBezTo>
                <a:cubicBezTo>
                  <a:pt x="3614299" y="1400123"/>
                  <a:pt x="3374749" y="1387388"/>
                  <a:pt x="3166754" y="1371827"/>
                </a:cubicBezTo>
                <a:cubicBezTo>
                  <a:pt x="2958759" y="1356267"/>
                  <a:pt x="2767848" y="1384857"/>
                  <a:pt x="2622072" y="1371827"/>
                </a:cubicBezTo>
                <a:cubicBezTo>
                  <a:pt x="2476296" y="1358797"/>
                  <a:pt x="2237042" y="1336383"/>
                  <a:pt x="1900052" y="1371827"/>
                </a:cubicBezTo>
                <a:cubicBezTo>
                  <a:pt x="1563062" y="1407271"/>
                  <a:pt x="1493983" y="1386919"/>
                  <a:pt x="1311036" y="1371827"/>
                </a:cubicBezTo>
                <a:cubicBezTo>
                  <a:pt x="1128089" y="1356735"/>
                  <a:pt x="987389" y="1359404"/>
                  <a:pt x="722020" y="1371827"/>
                </a:cubicBezTo>
                <a:cubicBezTo>
                  <a:pt x="456651" y="1384250"/>
                  <a:pt x="287000" y="1359543"/>
                  <a:pt x="0" y="1371827"/>
                </a:cubicBezTo>
                <a:cubicBezTo>
                  <a:pt x="-2102" y="1226073"/>
                  <a:pt x="-12041" y="860868"/>
                  <a:pt x="0" y="685914"/>
                </a:cubicBezTo>
                <a:cubicBezTo>
                  <a:pt x="12041" y="510960"/>
                  <a:pt x="-4955" y="279773"/>
                  <a:pt x="0" y="0"/>
                </a:cubicBezTo>
                <a:close/>
              </a:path>
            </a:pathLst>
          </a:custGeom>
          <a:solidFill>
            <a:srgbClr val="B3D8FF"/>
          </a:solidFill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i="1" dirty="0">
                <a:solidFill>
                  <a:srgbClr val="107B92"/>
                </a:solidFill>
                <a:latin typeface="Lato" panose="020F0502020204030203" pitchFamily="34" charset="77"/>
              </a:rPr>
              <a:t>Overall accuracy 67%</a:t>
            </a:r>
            <a:endParaRPr lang="en-US" sz="2400" i="1" dirty="0">
              <a:solidFill>
                <a:srgbClr val="107B92"/>
              </a:solidFill>
              <a:latin typeface="Lato" panose="020F050202020403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7B923E-8A70-1C70-71F4-29F855B3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AD38-4726-B977-922C-A9C21121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Model 1 Confusion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924499-C8EC-32D3-206D-4CAC2D186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275" y="936172"/>
            <a:ext cx="6541449" cy="5747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1F50BE-C380-4ADB-5F5C-F9BF8613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91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3C94-82EB-412E-3A67-87D416DB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Model 1 Misclassified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D08D5-AE47-FEA6-5188-DF350A4DF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44FB1C-2281-3226-2211-341A7708B18F}"/>
              </a:ext>
            </a:extLst>
          </p:cNvPr>
          <p:cNvGrpSpPr/>
          <p:nvPr/>
        </p:nvGrpSpPr>
        <p:grpSpPr>
          <a:xfrm>
            <a:off x="386488" y="2291723"/>
            <a:ext cx="11484336" cy="2834543"/>
            <a:chOff x="-1973229" y="3970595"/>
            <a:chExt cx="9801296" cy="24191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6BCFDF8-9B68-3A4D-683E-1865511FF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973229" y="3970595"/>
              <a:ext cx="4875116" cy="241913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90B95F-0A00-10E2-E29D-7A408E76D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2950" y="4001294"/>
              <a:ext cx="4875117" cy="2357739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C2C28-95CC-1771-2361-A70D2EB3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78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910D-CD62-1BDC-FFA5-90351E26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Method: Model 2 </a:t>
            </a:r>
            <a:r>
              <a:rPr lang="en-US" b="0" dirty="0"/>
              <a:t>(RF/MLP/k-NN w/ Clay Foundation Model)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5AF422-E54D-DF97-DD5C-7C1D03C8B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29544"/>
              </p:ext>
            </p:extLst>
          </p:nvPr>
        </p:nvGraphicFramePr>
        <p:xfrm>
          <a:off x="463085" y="3183853"/>
          <a:ext cx="8545576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9524">
                  <a:extLst>
                    <a:ext uri="{9D8B030D-6E8A-4147-A177-3AD203B41FA5}">
                      <a16:colId xmlns:a16="http://schemas.microsoft.com/office/drawing/2014/main" val="3539706534"/>
                    </a:ext>
                  </a:extLst>
                </a:gridCol>
                <a:gridCol w="1864439">
                  <a:extLst>
                    <a:ext uri="{9D8B030D-6E8A-4147-A177-3AD203B41FA5}">
                      <a16:colId xmlns:a16="http://schemas.microsoft.com/office/drawing/2014/main" val="1654297860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2307746285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012201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32273469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93384831"/>
                    </a:ext>
                  </a:extLst>
                </a:gridCol>
                <a:gridCol w="1507525">
                  <a:extLst>
                    <a:ext uri="{9D8B030D-6E8A-4147-A177-3AD203B41FA5}">
                      <a16:colId xmlns:a16="http://schemas.microsoft.com/office/drawing/2014/main" val="3183189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ID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Category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Nation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Area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Lat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Lng</a:t>
                      </a:r>
                      <a:endParaRPr lang="en-US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Geometry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84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Airfield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Training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1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Lato" panose="020F0502020204030203" pitchFamily="34" charset="77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Lato" panose="020F0502020204030203" pitchFamily="34" charset="77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77"/>
                        </a:rPr>
                        <a:t>nK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501818"/>
                  </a:ext>
                </a:extLst>
              </a:tr>
            </a:tbl>
          </a:graphicData>
        </a:graphic>
      </p:graphicFrame>
      <p:sp>
        <p:nvSpPr>
          <p:cNvPr id="7" name="Trapezoid 6">
            <a:extLst>
              <a:ext uri="{FF2B5EF4-FFF2-40B4-BE49-F238E27FC236}">
                <a16:creationId xmlns:a16="http://schemas.microsoft.com/office/drawing/2014/main" id="{80286EF9-20B5-B920-8182-309833FA5724}"/>
              </a:ext>
            </a:extLst>
          </p:cNvPr>
          <p:cNvSpPr/>
          <p:nvPr/>
        </p:nvSpPr>
        <p:spPr>
          <a:xfrm>
            <a:off x="463084" y="2522400"/>
            <a:ext cx="8515815" cy="622681"/>
          </a:xfrm>
          <a:prstGeom prst="trapezoid">
            <a:avLst>
              <a:gd name="adj" fmla="val 551425"/>
            </a:avLst>
          </a:prstGeom>
          <a:gradFill flip="none" rotWithShape="1">
            <a:gsLst>
              <a:gs pos="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60907B-E489-88D9-DEFE-133D59C85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87943"/>
              </p:ext>
            </p:extLst>
          </p:nvPr>
        </p:nvGraphicFramePr>
        <p:xfrm>
          <a:off x="9162631" y="3183853"/>
          <a:ext cx="2785566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8522">
                  <a:extLst>
                    <a:ext uri="{9D8B030D-6E8A-4147-A177-3AD203B41FA5}">
                      <a16:colId xmlns:a16="http://schemas.microsoft.com/office/drawing/2014/main" val="2023675189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7883731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7428198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Pre-calculated Embedding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84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1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501818"/>
                  </a:ext>
                </a:extLst>
              </a:tr>
            </a:tbl>
          </a:graphicData>
        </a:graphic>
      </p:graphicFrame>
      <p:sp>
        <p:nvSpPr>
          <p:cNvPr id="10" name="Trapezoid 9">
            <a:extLst>
              <a:ext uri="{FF2B5EF4-FFF2-40B4-BE49-F238E27FC236}">
                <a16:creationId xmlns:a16="http://schemas.microsoft.com/office/drawing/2014/main" id="{6315E35E-58D4-2BBA-C157-4BDD5DEB7862}"/>
              </a:ext>
            </a:extLst>
          </p:cNvPr>
          <p:cNvSpPr/>
          <p:nvPr/>
        </p:nvSpPr>
        <p:spPr>
          <a:xfrm>
            <a:off x="6467268" y="2522400"/>
            <a:ext cx="5470731" cy="622681"/>
          </a:xfrm>
          <a:custGeom>
            <a:avLst/>
            <a:gdLst>
              <a:gd name="connsiteX0" fmla="*/ 0 w 2686468"/>
              <a:gd name="connsiteY0" fmla="*/ 914400 h 914400"/>
              <a:gd name="connsiteX1" fmla="*/ 581238 w 2686468"/>
              <a:gd name="connsiteY1" fmla="*/ 0 h 914400"/>
              <a:gd name="connsiteX2" fmla="*/ 2105230 w 2686468"/>
              <a:gd name="connsiteY2" fmla="*/ 0 h 914400"/>
              <a:gd name="connsiteX3" fmla="*/ 2686468 w 2686468"/>
              <a:gd name="connsiteY3" fmla="*/ 914400 h 914400"/>
              <a:gd name="connsiteX4" fmla="*/ 0 w 2686468"/>
              <a:gd name="connsiteY4" fmla="*/ 914400 h 914400"/>
              <a:gd name="connsiteX0" fmla="*/ 2644562 w 5331030"/>
              <a:gd name="connsiteY0" fmla="*/ 914400 h 914400"/>
              <a:gd name="connsiteX1" fmla="*/ 0 w 5331030"/>
              <a:gd name="connsiteY1" fmla="*/ 0 h 914400"/>
              <a:gd name="connsiteX2" fmla="*/ 4749792 w 5331030"/>
              <a:gd name="connsiteY2" fmla="*/ 0 h 914400"/>
              <a:gd name="connsiteX3" fmla="*/ 5331030 w 5331030"/>
              <a:gd name="connsiteY3" fmla="*/ 914400 h 914400"/>
              <a:gd name="connsiteX4" fmla="*/ 2644562 w 5331030"/>
              <a:gd name="connsiteY4" fmla="*/ 914400 h 914400"/>
              <a:gd name="connsiteX0" fmla="*/ 2644562 w 5331030"/>
              <a:gd name="connsiteY0" fmla="*/ 914400 h 914400"/>
              <a:gd name="connsiteX1" fmla="*/ 0 w 5331030"/>
              <a:gd name="connsiteY1" fmla="*/ 0 h 914400"/>
              <a:gd name="connsiteX2" fmla="*/ 1777992 w 5331030"/>
              <a:gd name="connsiteY2" fmla="*/ 12700 h 914400"/>
              <a:gd name="connsiteX3" fmla="*/ 5331030 w 5331030"/>
              <a:gd name="connsiteY3" fmla="*/ 914400 h 914400"/>
              <a:gd name="connsiteX4" fmla="*/ 2644562 w 533103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1030" h="914400">
                <a:moveTo>
                  <a:pt x="2644562" y="914400"/>
                </a:moveTo>
                <a:lnTo>
                  <a:pt x="0" y="0"/>
                </a:lnTo>
                <a:lnTo>
                  <a:pt x="1777992" y="12700"/>
                </a:lnTo>
                <a:lnTo>
                  <a:pt x="5331030" y="914400"/>
                </a:lnTo>
                <a:lnTo>
                  <a:pt x="2644562" y="9144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C69BCE79-6BA1-3742-6356-075A6DDAC24B}"/>
              </a:ext>
            </a:extLst>
          </p:cNvPr>
          <p:cNvSpPr/>
          <p:nvPr/>
        </p:nvSpPr>
        <p:spPr>
          <a:xfrm>
            <a:off x="3749640" y="1333047"/>
            <a:ext cx="2178467" cy="1295399"/>
          </a:xfrm>
          <a:prstGeom prst="can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OpenStreetMap (</a:t>
            </a:r>
            <a:r>
              <a:rPr lang="en-US" dirty="0" err="1">
                <a:latin typeface="Lato" panose="020F0502020204030203" pitchFamily="34" charset="77"/>
              </a:rPr>
              <a:t>GeoJSON</a:t>
            </a:r>
            <a:r>
              <a:rPr lang="en-US" dirty="0">
                <a:latin typeface="Lato" panose="020F0502020204030203" pitchFamily="34" charset="77"/>
              </a:rPr>
              <a:t> type)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64B4CB27-DC57-ED76-05CB-44CAFF74B9ED}"/>
              </a:ext>
            </a:extLst>
          </p:cNvPr>
          <p:cNvSpPr/>
          <p:nvPr/>
        </p:nvSpPr>
        <p:spPr>
          <a:xfrm>
            <a:off x="6274852" y="1333047"/>
            <a:ext cx="2178467" cy="1295399"/>
          </a:xfrm>
          <a:prstGeom prst="can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Satellite Imagery (Sentinel-2, VIRRS)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B51459-1AC0-0D14-3AC1-BF9993EB2C75}"/>
              </a:ext>
            </a:extLst>
          </p:cNvPr>
          <p:cNvSpPr/>
          <p:nvPr/>
        </p:nvSpPr>
        <p:spPr>
          <a:xfrm>
            <a:off x="2044700" y="4706109"/>
            <a:ext cx="1689100" cy="594664"/>
          </a:xfrm>
          <a:custGeom>
            <a:avLst/>
            <a:gdLst>
              <a:gd name="connsiteX0" fmla="*/ 0 w 1689100"/>
              <a:gd name="connsiteY0" fmla="*/ 0 h 594664"/>
              <a:gd name="connsiteX1" fmla="*/ 512360 w 1689100"/>
              <a:gd name="connsiteY1" fmla="*/ 0 h 594664"/>
              <a:gd name="connsiteX2" fmla="*/ 1041612 w 1689100"/>
              <a:gd name="connsiteY2" fmla="*/ 0 h 594664"/>
              <a:gd name="connsiteX3" fmla="*/ 1689100 w 1689100"/>
              <a:gd name="connsiteY3" fmla="*/ 0 h 594664"/>
              <a:gd name="connsiteX4" fmla="*/ 1689100 w 1689100"/>
              <a:gd name="connsiteY4" fmla="*/ 594664 h 594664"/>
              <a:gd name="connsiteX5" fmla="*/ 1176740 w 1689100"/>
              <a:gd name="connsiteY5" fmla="*/ 594664 h 594664"/>
              <a:gd name="connsiteX6" fmla="*/ 664379 w 1689100"/>
              <a:gd name="connsiteY6" fmla="*/ 594664 h 594664"/>
              <a:gd name="connsiteX7" fmla="*/ 0 w 1689100"/>
              <a:gd name="connsiteY7" fmla="*/ 594664 h 594664"/>
              <a:gd name="connsiteX8" fmla="*/ 0 w 1689100"/>
              <a:gd name="connsiteY8" fmla="*/ 0 h 59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9100" h="594664" extrusionOk="0">
                <a:moveTo>
                  <a:pt x="0" y="0"/>
                </a:moveTo>
                <a:cubicBezTo>
                  <a:pt x="106669" y="-19716"/>
                  <a:pt x="270812" y="821"/>
                  <a:pt x="512360" y="0"/>
                </a:cubicBezTo>
                <a:cubicBezTo>
                  <a:pt x="753908" y="-821"/>
                  <a:pt x="901206" y="10620"/>
                  <a:pt x="1041612" y="0"/>
                </a:cubicBezTo>
                <a:cubicBezTo>
                  <a:pt x="1182018" y="-10620"/>
                  <a:pt x="1451177" y="-6663"/>
                  <a:pt x="1689100" y="0"/>
                </a:cubicBezTo>
                <a:cubicBezTo>
                  <a:pt x="1711172" y="267302"/>
                  <a:pt x="1694376" y="413496"/>
                  <a:pt x="1689100" y="594664"/>
                </a:cubicBezTo>
                <a:cubicBezTo>
                  <a:pt x="1498815" y="596967"/>
                  <a:pt x="1304231" y="605150"/>
                  <a:pt x="1176740" y="594664"/>
                </a:cubicBezTo>
                <a:cubicBezTo>
                  <a:pt x="1049249" y="584178"/>
                  <a:pt x="783841" y="614041"/>
                  <a:pt x="664379" y="594664"/>
                </a:cubicBezTo>
                <a:cubicBezTo>
                  <a:pt x="544917" y="575287"/>
                  <a:pt x="200605" y="611943"/>
                  <a:pt x="0" y="594664"/>
                </a:cubicBezTo>
                <a:cubicBezTo>
                  <a:pt x="-5311" y="312205"/>
                  <a:pt x="-15771" y="293053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Prediction</a:t>
            </a:r>
            <a:b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</a:br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using RF/MLP, k-NN </a:t>
            </a:r>
          </a:p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 model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031C00B-8024-A9A7-7162-51C9BBA08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09440"/>
              </p:ext>
            </p:extLst>
          </p:nvPr>
        </p:nvGraphicFramePr>
        <p:xfrm>
          <a:off x="460903" y="5506047"/>
          <a:ext cx="854557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9524">
                  <a:extLst>
                    <a:ext uri="{9D8B030D-6E8A-4147-A177-3AD203B41FA5}">
                      <a16:colId xmlns:a16="http://schemas.microsoft.com/office/drawing/2014/main" val="3539706534"/>
                    </a:ext>
                  </a:extLst>
                </a:gridCol>
                <a:gridCol w="1864439">
                  <a:extLst>
                    <a:ext uri="{9D8B030D-6E8A-4147-A177-3AD203B41FA5}">
                      <a16:colId xmlns:a16="http://schemas.microsoft.com/office/drawing/2014/main" val="1654297860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2307746285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012201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322734694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93384831"/>
                    </a:ext>
                  </a:extLst>
                </a:gridCol>
                <a:gridCol w="1507525">
                  <a:extLst>
                    <a:ext uri="{9D8B030D-6E8A-4147-A177-3AD203B41FA5}">
                      <a16:colId xmlns:a16="http://schemas.microsoft.com/office/drawing/2014/main" val="3183189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Airfield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F3385386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Training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77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Lato" panose="020F0502020204030203" pitchFamily="34" charset="77"/>
                        </a:rPr>
                        <a:t>POLYGON(…</a:t>
                      </a:r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6A62ECF-D303-8C21-1DB1-09900CEF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289409"/>
              </p:ext>
            </p:extLst>
          </p:nvPr>
        </p:nvGraphicFramePr>
        <p:xfrm>
          <a:off x="9162631" y="5506047"/>
          <a:ext cx="278556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8522">
                  <a:extLst>
                    <a:ext uri="{9D8B030D-6E8A-4147-A177-3AD203B41FA5}">
                      <a16:colId xmlns:a16="http://schemas.microsoft.com/office/drawing/2014/main" val="2023675189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837883731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74281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2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1100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8A5A8C2-CFC2-EE13-4938-35C5023F0D56}"/>
              </a:ext>
            </a:extLst>
          </p:cNvPr>
          <p:cNvSpPr/>
          <p:nvPr/>
        </p:nvSpPr>
        <p:spPr>
          <a:xfrm>
            <a:off x="4940300" y="3733346"/>
            <a:ext cx="2423786" cy="2347413"/>
          </a:xfrm>
          <a:custGeom>
            <a:avLst/>
            <a:gdLst>
              <a:gd name="connsiteX0" fmla="*/ 0 w 2423786"/>
              <a:gd name="connsiteY0" fmla="*/ 0 h 2347413"/>
              <a:gd name="connsiteX1" fmla="*/ 533233 w 2423786"/>
              <a:gd name="connsiteY1" fmla="*/ 0 h 2347413"/>
              <a:gd name="connsiteX2" fmla="*/ 1090704 w 2423786"/>
              <a:gd name="connsiteY2" fmla="*/ 0 h 2347413"/>
              <a:gd name="connsiteX3" fmla="*/ 1745126 w 2423786"/>
              <a:gd name="connsiteY3" fmla="*/ 0 h 2347413"/>
              <a:gd name="connsiteX4" fmla="*/ 2423786 w 2423786"/>
              <a:gd name="connsiteY4" fmla="*/ 0 h 2347413"/>
              <a:gd name="connsiteX5" fmla="*/ 2423786 w 2423786"/>
              <a:gd name="connsiteY5" fmla="*/ 586853 h 2347413"/>
              <a:gd name="connsiteX6" fmla="*/ 2423786 w 2423786"/>
              <a:gd name="connsiteY6" fmla="*/ 1220655 h 2347413"/>
              <a:gd name="connsiteX7" fmla="*/ 2423786 w 2423786"/>
              <a:gd name="connsiteY7" fmla="*/ 1737086 h 2347413"/>
              <a:gd name="connsiteX8" fmla="*/ 2423786 w 2423786"/>
              <a:gd name="connsiteY8" fmla="*/ 2347413 h 2347413"/>
              <a:gd name="connsiteX9" fmla="*/ 1793602 w 2423786"/>
              <a:gd name="connsiteY9" fmla="*/ 2347413 h 2347413"/>
              <a:gd name="connsiteX10" fmla="*/ 1187655 w 2423786"/>
              <a:gd name="connsiteY10" fmla="*/ 2347413 h 2347413"/>
              <a:gd name="connsiteX11" fmla="*/ 581709 w 2423786"/>
              <a:gd name="connsiteY11" fmla="*/ 2347413 h 2347413"/>
              <a:gd name="connsiteX12" fmla="*/ 0 w 2423786"/>
              <a:gd name="connsiteY12" fmla="*/ 2347413 h 2347413"/>
              <a:gd name="connsiteX13" fmla="*/ 0 w 2423786"/>
              <a:gd name="connsiteY13" fmla="*/ 1713611 h 2347413"/>
              <a:gd name="connsiteX14" fmla="*/ 0 w 2423786"/>
              <a:gd name="connsiteY14" fmla="*/ 1126758 h 2347413"/>
              <a:gd name="connsiteX15" fmla="*/ 0 w 2423786"/>
              <a:gd name="connsiteY15" fmla="*/ 586853 h 2347413"/>
              <a:gd name="connsiteX16" fmla="*/ 0 w 2423786"/>
              <a:gd name="connsiteY16" fmla="*/ 0 h 234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23786" h="2347413" extrusionOk="0">
                <a:moveTo>
                  <a:pt x="0" y="0"/>
                </a:moveTo>
                <a:cubicBezTo>
                  <a:pt x="114954" y="19435"/>
                  <a:pt x="387735" y="-25340"/>
                  <a:pt x="533233" y="0"/>
                </a:cubicBezTo>
                <a:cubicBezTo>
                  <a:pt x="678731" y="25340"/>
                  <a:pt x="899273" y="-13505"/>
                  <a:pt x="1090704" y="0"/>
                </a:cubicBezTo>
                <a:cubicBezTo>
                  <a:pt x="1282135" y="13505"/>
                  <a:pt x="1421449" y="24076"/>
                  <a:pt x="1745126" y="0"/>
                </a:cubicBezTo>
                <a:cubicBezTo>
                  <a:pt x="2068803" y="-24076"/>
                  <a:pt x="2207079" y="30797"/>
                  <a:pt x="2423786" y="0"/>
                </a:cubicBezTo>
                <a:cubicBezTo>
                  <a:pt x="2434140" y="278607"/>
                  <a:pt x="2431780" y="329661"/>
                  <a:pt x="2423786" y="586853"/>
                </a:cubicBezTo>
                <a:cubicBezTo>
                  <a:pt x="2415792" y="844045"/>
                  <a:pt x="2450199" y="978148"/>
                  <a:pt x="2423786" y="1220655"/>
                </a:cubicBezTo>
                <a:cubicBezTo>
                  <a:pt x="2397373" y="1463162"/>
                  <a:pt x="2442804" y="1513826"/>
                  <a:pt x="2423786" y="1737086"/>
                </a:cubicBezTo>
                <a:cubicBezTo>
                  <a:pt x="2404768" y="1960346"/>
                  <a:pt x="2417591" y="2203566"/>
                  <a:pt x="2423786" y="2347413"/>
                </a:cubicBezTo>
                <a:cubicBezTo>
                  <a:pt x="2146353" y="2378294"/>
                  <a:pt x="2015396" y="2370249"/>
                  <a:pt x="1793602" y="2347413"/>
                </a:cubicBezTo>
                <a:cubicBezTo>
                  <a:pt x="1571808" y="2324577"/>
                  <a:pt x="1445927" y="2371338"/>
                  <a:pt x="1187655" y="2347413"/>
                </a:cubicBezTo>
                <a:cubicBezTo>
                  <a:pt x="929383" y="2323488"/>
                  <a:pt x="762712" y="2331496"/>
                  <a:pt x="581709" y="2347413"/>
                </a:cubicBezTo>
                <a:cubicBezTo>
                  <a:pt x="400706" y="2363330"/>
                  <a:pt x="252003" y="2343584"/>
                  <a:pt x="0" y="2347413"/>
                </a:cubicBezTo>
                <a:cubicBezTo>
                  <a:pt x="-21815" y="2106223"/>
                  <a:pt x="-10653" y="1912015"/>
                  <a:pt x="0" y="1713611"/>
                </a:cubicBezTo>
                <a:cubicBezTo>
                  <a:pt x="10653" y="1515207"/>
                  <a:pt x="-17711" y="1379912"/>
                  <a:pt x="0" y="1126758"/>
                </a:cubicBezTo>
                <a:cubicBezTo>
                  <a:pt x="17711" y="873604"/>
                  <a:pt x="25271" y="791686"/>
                  <a:pt x="0" y="586853"/>
                </a:cubicBezTo>
                <a:cubicBezTo>
                  <a:pt x="-25271" y="382020"/>
                  <a:pt x="-2080" y="122834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Calculated from Geometry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38DB00-0A20-E3BF-EDBC-ECA5D6A52692}"/>
              </a:ext>
            </a:extLst>
          </p:cNvPr>
          <p:cNvSpPr/>
          <p:nvPr/>
        </p:nvSpPr>
        <p:spPr>
          <a:xfrm>
            <a:off x="9359900" y="3733346"/>
            <a:ext cx="2423786" cy="2347413"/>
          </a:xfrm>
          <a:custGeom>
            <a:avLst/>
            <a:gdLst>
              <a:gd name="connsiteX0" fmla="*/ 0 w 2423786"/>
              <a:gd name="connsiteY0" fmla="*/ 0 h 2347413"/>
              <a:gd name="connsiteX1" fmla="*/ 581709 w 2423786"/>
              <a:gd name="connsiteY1" fmla="*/ 0 h 2347413"/>
              <a:gd name="connsiteX2" fmla="*/ 1114942 w 2423786"/>
              <a:gd name="connsiteY2" fmla="*/ 0 h 2347413"/>
              <a:gd name="connsiteX3" fmla="*/ 1769364 w 2423786"/>
              <a:gd name="connsiteY3" fmla="*/ 0 h 2347413"/>
              <a:gd name="connsiteX4" fmla="*/ 2423786 w 2423786"/>
              <a:gd name="connsiteY4" fmla="*/ 0 h 2347413"/>
              <a:gd name="connsiteX5" fmla="*/ 2423786 w 2423786"/>
              <a:gd name="connsiteY5" fmla="*/ 563379 h 2347413"/>
              <a:gd name="connsiteX6" fmla="*/ 2423786 w 2423786"/>
              <a:gd name="connsiteY6" fmla="*/ 1103284 h 2347413"/>
              <a:gd name="connsiteX7" fmla="*/ 2423786 w 2423786"/>
              <a:gd name="connsiteY7" fmla="*/ 1690137 h 2347413"/>
              <a:gd name="connsiteX8" fmla="*/ 2423786 w 2423786"/>
              <a:gd name="connsiteY8" fmla="*/ 2347413 h 2347413"/>
              <a:gd name="connsiteX9" fmla="*/ 1866315 w 2423786"/>
              <a:gd name="connsiteY9" fmla="*/ 2347413 h 2347413"/>
              <a:gd name="connsiteX10" fmla="*/ 1260369 w 2423786"/>
              <a:gd name="connsiteY10" fmla="*/ 2347413 h 2347413"/>
              <a:gd name="connsiteX11" fmla="*/ 654422 w 2423786"/>
              <a:gd name="connsiteY11" fmla="*/ 2347413 h 2347413"/>
              <a:gd name="connsiteX12" fmla="*/ 0 w 2423786"/>
              <a:gd name="connsiteY12" fmla="*/ 2347413 h 2347413"/>
              <a:gd name="connsiteX13" fmla="*/ 0 w 2423786"/>
              <a:gd name="connsiteY13" fmla="*/ 1713611 h 2347413"/>
              <a:gd name="connsiteX14" fmla="*/ 0 w 2423786"/>
              <a:gd name="connsiteY14" fmla="*/ 1079810 h 2347413"/>
              <a:gd name="connsiteX15" fmla="*/ 0 w 2423786"/>
              <a:gd name="connsiteY15" fmla="*/ 0 h 234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23786" h="2347413" extrusionOk="0">
                <a:moveTo>
                  <a:pt x="0" y="0"/>
                </a:moveTo>
                <a:cubicBezTo>
                  <a:pt x="266545" y="19482"/>
                  <a:pt x="371326" y="-489"/>
                  <a:pt x="581709" y="0"/>
                </a:cubicBezTo>
                <a:cubicBezTo>
                  <a:pt x="792092" y="489"/>
                  <a:pt x="854130" y="25184"/>
                  <a:pt x="1114942" y="0"/>
                </a:cubicBezTo>
                <a:cubicBezTo>
                  <a:pt x="1375754" y="-25184"/>
                  <a:pt x="1587583" y="-17310"/>
                  <a:pt x="1769364" y="0"/>
                </a:cubicBezTo>
                <a:cubicBezTo>
                  <a:pt x="1951145" y="17310"/>
                  <a:pt x="2232165" y="-9987"/>
                  <a:pt x="2423786" y="0"/>
                </a:cubicBezTo>
                <a:cubicBezTo>
                  <a:pt x="2426116" y="134364"/>
                  <a:pt x="2421236" y="334783"/>
                  <a:pt x="2423786" y="563379"/>
                </a:cubicBezTo>
                <a:cubicBezTo>
                  <a:pt x="2426336" y="791975"/>
                  <a:pt x="2418788" y="839475"/>
                  <a:pt x="2423786" y="1103284"/>
                </a:cubicBezTo>
                <a:cubicBezTo>
                  <a:pt x="2428784" y="1367094"/>
                  <a:pt x="2401494" y="1512778"/>
                  <a:pt x="2423786" y="1690137"/>
                </a:cubicBezTo>
                <a:cubicBezTo>
                  <a:pt x="2446078" y="1867496"/>
                  <a:pt x="2449019" y="2094560"/>
                  <a:pt x="2423786" y="2347413"/>
                </a:cubicBezTo>
                <a:cubicBezTo>
                  <a:pt x="2301270" y="2319591"/>
                  <a:pt x="2019369" y="2371758"/>
                  <a:pt x="1866315" y="2347413"/>
                </a:cubicBezTo>
                <a:cubicBezTo>
                  <a:pt x="1713261" y="2323068"/>
                  <a:pt x="1553068" y="2336569"/>
                  <a:pt x="1260369" y="2347413"/>
                </a:cubicBezTo>
                <a:cubicBezTo>
                  <a:pt x="967670" y="2358257"/>
                  <a:pt x="810251" y="2332403"/>
                  <a:pt x="654422" y="2347413"/>
                </a:cubicBezTo>
                <a:cubicBezTo>
                  <a:pt x="498593" y="2362423"/>
                  <a:pt x="279894" y="2323917"/>
                  <a:pt x="0" y="2347413"/>
                </a:cubicBezTo>
                <a:cubicBezTo>
                  <a:pt x="-4891" y="2087480"/>
                  <a:pt x="31270" y="1858803"/>
                  <a:pt x="0" y="1713611"/>
                </a:cubicBezTo>
                <a:cubicBezTo>
                  <a:pt x="-31270" y="1568419"/>
                  <a:pt x="-19462" y="1213421"/>
                  <a:pt x="0" y="1079810"/>
                </a:cubicBezTo>
                <a:cubicBezTo>
                  <a:pt x="19462" y="946199"/>
                  <a:pt x="10079" y="346938"/>
                  <a:pt x="0" y="0"/>
                </a:cubicBezTo>
                <a:close/>
              </a:path>
            </a:pathLst>
          </a:custGeom>
          <a:noFill/>
          <a:ln w="28575">
            <a:solidFill>
              <a:srgbClr val="107B92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07B92"/>
                </a:solidFill>
                <a:latin typeface="Lato" panose="020F0502020204030203" pitchFamily="34" charset="77"/>
              </a:rPr>
              <a:t>Clipped by polygons and calculated from Imagery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3159E61-3C74-A884-063E-0533A56B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54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1F4D-4270-9D7A-3C88-4FB0E4DD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 of Clay Foundation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2C822-A5D9-246F-2273-515204B3A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Clay’s model takes satellite imagery, along with information about location and time, as an input, and outputs embeddings, which are mathematical representations of a given area at a certain time on Earth’s surface. It uses a Vision Transformer architecture adapted to understand geospatial and temporal relations on Earth Observation data. The model is trained via Self-supervised learning (SSL) using a Masked Autoencoder (MAE) method.</a:t>
            </a:r>
            <a:endParaRPr lang="en-US" b="1" dirty="0"/>
          </a:p>
          <a:p>
            <a:r>
              <a:rPr lang="en-US" b="1" dirty="0"/>
              <a:t>Generate semantic embeddings for any location and time.</a:t>
            </a:r>
          </a:p>
          <a:p>
            <a:r>
              <a:rPr lang="en-US" b="1" dirty="0"/>
              <a:t>Fine-tune the model for downstream tasks such as classification, regression, and generative tasks</a:t>
            </a:r>
          </a:p>
          <a:p>
            <a:r>
              <a:rPr lang="en-US" b="1" dirty="0"/>
              <a:t>Use the model as a backbone for other models.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6FC51-C32D-5FB0-C583-89A40859A250}"/>
              </a:ext>
            </a:extLst>
          </p:cNvPr>
          <p:cNvSpPr txBox="1"/>
          <p:nvPr/>
        </p:nvSpPr>
        <p:spPr>
          <a:xfrm>
            <a:off x="217713" y="63521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https://clay-</a:t>
            </a:r>
            <a:r>
              <a:rPr lang="en-US" dirty="0" err="1"/>
              <a:t>foundation.github.io</a:t>
            </a:r>
            <a:r>
              <a:rPr lang="en-US" dirty="0"/>
              <a:t>/model/</a:t>
            </a:r>
            <a:r>
              <a:rPr lang="en-US" dirty="0" err="1"/>
              <a:t>index.html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E4106-6966-D22D-02B4-8867F061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025" y="4165136"/>
            <a:ext cx="5660574" cy="268004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FC34A-AE0B-9744-F94C-AA479E1B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65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3156-2675-74F7-A210-CF5404A3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B0D7-3B07-98E8-E58F-96347B8D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Data (completed in the above, use `</a:t>
            </a:r>
            <a:r>
              <a:rPr lang="en-US" dirty="0" err="1"/>
              <a:t>train_df</a:t>
            </a:r>
            <a:r>
              <a:rPr lang="en-US" dirty="0"/>
              <a:t>`) (completed)</a:t>
            </a:r>
          </a:p>
          <a:p>
            <a:r>
              <a:rPr lang="en-US" dirty="0"/>
              <a:t>Define a function to extract grid coordination each polygon in `</a:t>
            </a:r>
            <a:r>
              <a:rPr lang="en-US" dirty="0" err="1"/>
              <a:t>train_df</a:t>
            </a:r>
            <a:r>
              <a:rPr lang="en-US" dirty="0"/>
              <a:t>` (completed)</a:t>
            </a:r>
          </a:p>
          <a:p>
            <a:r>
              <a:rPr lang="en-US" dirty="0"/>
              <a:t>Load Clay MAE model (completed)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clay_mae_base</a:t>
            </a:r>
            <a:r>
              <a:rPr lang="en-US" dirty="0"/>
              <a:t>(...)</a:t>
            </a:r>
            <a:br>
              <a:rPr lang="en-US" dirty="0"/>
            </a:br>
            <a:r>
              <a:rPr lang="en-US" dirty="0"/>
              <a:t>• Import pretrained weight &amp; metadata</a:t>
            </a:r>
          </a:p>
          <a:p>
            <a:r>
              <a:rPr lang="en-US" dirty="0">
                <a:solidFill>
                  <a:srgbClr val="FF0000"/>
                </a:solidFill>
              </a:rPr>
              <a:t>Extract embedding for each feature (not completed)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• model(</a:t>
            </a:r>
            <a:r>
              <a:rPr lang="en-US" dirty="0" err="1">
                <a:solidFill>
                  <a:srgbClr val="FF0000"/>
                </a:solidFill>
              </a:rPr>
              <a:t>datacube</a:t>
            </a:r>
            <a:r>
              <a:rPr lang="en-US" dirty="0">
                <a:solidFill>
                  <a:srgbClr val="FF0000"/>
                </a:solidFill>
              </a:rPr>
              <a:t>) </a:t>
            </a:r>
            <a:br>
              <a:rPr lang="ko-KR" altLang="en-US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• </a:t>
            </a:r>
            <a:r>
              <a:rPr lang="en-US" dirty="0" err="1">
                <a:solidFill>
                  <a:srgbClr val="FF0000"/>
                </a:solidFill>
              </a:rPr>
              <a:t>model.encoder.cls_token</a:t>
            </a:r>
            <a:r>
              <a:rPr lang="en-US" dirty="0">
                <a:solidFill>
                  <a:srgbClr val="FF0000"/>
                </a:solidFill>
              </a:rPr>
              <a:t> → projection → vector</a:t>
            </a:r>
          </a:p>
          <a:p>
            <a:r>
              <a:rPr lang="en-US" dirty="0">
                <a:solidFill>
                  <a:srgbClr val="FF0000"/>
                </a:solidFill>
              </a:rPr>
              <a:t>Training (</a:t>
            </a:r>
            <a:r>
              <a:rPr lang="en-US" dirty="0" err="1">
                <a:solidFill>
                  <a:srgbClr val="FF0000"/>
                </a:solidFill>
              </a:rPr>
              <a:t>RandomForest</a:t>
            </a:r>
            <a:r>
              <a:rPr lang="en-US" dirty="0">
                <a:solidFill>
                  <a:srgbClr val="FF0000"/>
                </a:solidFill>
              </a:rPr>
              <a:t>, MLP, k-NN) (not completed)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• </a:t>
            </a:r>
            <a:r>
              <a:rPr lang="en-US" dirty="0" err="1">
                <a:solidFill>
                  <a:srgbClr val="FF0000"/>
                </a:solidFill>
              </a:rPr>
              <a:t>gdf_labeled</a:t>
            </a:r>
            <a:r>
              <a:rPr lang="en-US" dirty="0">
                <a:solidFill>
                  <a:srgbClr val="FF0000"/>
                </a:solidFill>
              </a:rPr>
              <a:t>: X = embedding, y = military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• </a:t>
            </a:r>
            <a:r>
              <a:rPr lang="en-US" dirty="0" err="1">
                <a:solidFill>
                  <a:srgbClr val="FF0000"/>
                </a:solidFill>
              </a:rPr>
              <a:t>gdf_unlabeled</a:t>
            </a:r>
            <a:r>
              <a:rPr lang="en-US" dirty="0">
                <a:solidFill>
                  <a:srgbClr val="FF0000"/>
                </a:solidFill>
              </a:rPr>
              <a:t>: X = embedding → y = prediction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87FB4F-F438-2E04-5FB2-BC9968604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517" y="2715882"/>
            <a:ext cx="5501769" cy="400559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66A00-3072-865E-3E6F-5743D47F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1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>
            <a:extLst>
              <a:ext uri="{FF2B5EF4-FFF2-40B4-BE49-F238E27FC236}">
                <a16:creationId xmlns:a16="http://schemas.microsoft.com/office/drawing/2014/main" id="{8A5D3A7B-BC39-20C8-73B3-46E4389EF358}"/>
              </a:ext>
            </a:extLst>
          </p:cNvPr>
          <p:cNvSpPr/>
          <p:nvPr/>
        </p:nvSpPr>
        <p:spPr>
          <a:xfrm>
            <a:off x="1097280" y="1795549"/>
            <a:ext cx="9892145" cy="3384570"/>
          </a:xfrm>
          <a:prstGeom prst="frame">
            <a:avLst/>
          </a:prstGeom>
          <a:solidFill>
            <a:srgbClr val="79D6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03331-68A5-6848-543F-6BB4DF2E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ED7769-682D-BFE0-3635-1AD8FE67C66C}"/>
              </a:ext>
            </a:extLst>
          </p:cNvPr>
          <p:cNvSpPr/>
          <p:nvPr/>
        </p:nvSpPr>
        <p:spPr>
          <a:xfrm>
            <a:off x="217714" y="2924735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Data Collection and Processing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C6A5D-8856-6E4C-C731-2D7F60ED9589}"/>
              </a:ext>
            </a:extLst>
          </p:cNvPr>
          <p:cNvSpPr/>
          <p:nvPr/>
        </p:nvSpPr>
        <p:spPr>
          <a:xfrm>
            <a:off x="3095387" y="1497104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1</a:t>
            </a:r>
          </a:p>
          <a:p>
            <a:pPr algn="ctr"/>
            <a:r>
              <a:rPr lang="en-US" dirty="0">
                <a:latin typeface="Lato" panose="020F0502020204030203" pitchFamily="34" charset="77"/>
              </a:rPr>
              <a:t>(RF w/ directly obtained image values*)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D4B51-F4FD-83C8-7806-34B0798DEBA8}"/>
              </a:ext>
            </a:extLst>
          </p:cNvPr>
          <p:cNvSpPr/>
          <p:nvPr/>
        </p:nvSpPr>
        <p:spPr>
          <a:xfrm>
            <a:off x="6628505" y="1497103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1 training &amp;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E5731-801A-E82A-790E-30DA6C2C5A26}"/>
              </a:ext>
            </a:extLst>
          </p:cNvPr>
          <p:cNvSpPr txBox="1"/>
          <p:nvPr/>
        </p:nvSpPr>
        <p:spPr>
          <a:xfrm>
            <a:off x="1942780" y="336294"/>
            <a:ext cx="7153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C1D"/>
                </a:solidFill>
                <a:latin typeface="Lato" panose="020F0502020204030203" pitchFamily="34" charset="77"/>
              </a:rPr>
              <a:t>“N</a:t>
            </a:r>
            <a:r>
              <a:rPr lang="en-US" sz="2000" b="0" i="0" dirty="0">
                <a:solidFill>
                  <a:srgbClr val="1D1C1D"/>
                </a:solidFill>
                <a:effectLst/>
                <a:latin typeface="Lato" panose="020F0502020204030203" pitchFamily="34" charset="77"/>
              </a:rPr>
              <a:t>on-image ML problem that uses image-derived data”</a:t>
            </a:r>
            <a:endParaRPr lang="en-US" sz="2000" dirty="0">
              <a:latin typeface="Lato" panose="020F050202020403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BEFE4-720D-E0CC-F468-9E6862A2376C}"/>
              </a:ext>
            </a:extLst>
          </p:cNvPr>
          <p:cNvSpPr/>
          <p:nvPr/>
        </p:nvSpPr>
        <p:spPr>
          <a:xfrm>
            <a:off x="3095386" y="4352367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2</a:t>
            </a:r>
          </a:p>
          <a:p>
            <a:pPr algn="ctr"/>
            <a:r>
              <a:rPr lang="en-US" dirty="0">
                <a:latin typeface="Lato" panose="020F0502020204030203" pitchFamily="34" charset="77"/>
              </a:rPr>
              <a:t>(RF w/ image-based</a:t>
            </a:r>
            <a:br>
              <a:rPr lang="en-US" dirty="0">
                <a:latin typeface="Lato" panose="020F0502020204030203" pitchFamily="34" charset="77"/>
              </a:rPr>
            </a:br>
            <a:r>
              <a:rPr lang="en-US" dirty="0">
                <a:latin typeface="Lato" panose="020F0502020204030203" pitchFamily="34" charset="77"/>
              </a:rPr>
              <a:t> pre-trained model**)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2118F-29BD-9173-5202-303927BFEAE0}"/>
              </a:ext>
            </a:extLst>
          </p:cNvPr>
          <p:cNvSpPr/>
          <p:nvPr/>
        </p:nvSpPr>
        <p:spPr>
          <a:xfrm>
            <a:off x="6628504" y="4352367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Model 2 training &amp;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1997AC-AD0C-2A64-CCD9-405B1BF8F8B5}"/>
              </a:ext>
            </a:extLst>
          </p:cNvPr>
          <p:cNvSpPr/>
          <p:nvPr/>
        </p:nvSpPr>
        <p:spPr>
          <a:xfrm>
            <a:off x="9320733" y="2924734"/>
            <a:ext cx="2653553" cy="1008529"/>
          </a:xfrm>
          <a:prstGeom prst="rect">
            <a:avLst/>
          </a:prstGeom>
          <a:solidFill>
            <a:srgbClr val="0037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77"/>
              </a:rPr>
              <a:t>Compare two models’ performance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E2EA9-984B-98F3-32BF-987DBD2CA5F8}"/>
              </a:ext>
            </a:extLst>
          </p:cNvPr>
          <p:cNvSpPr txBox="1"/>
          <p:nvPr/>
        </p:nvSpPr>
        <p:spPr>
          <a:xfrm>
            <a:off x="3355943" y="5379887"/>
            <a:ext cx="7153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C1D"/>
                </a:solidFill>
                <a:latin typeface="Lato" panose="020F0502020204030203" pitchFamily="34" charset="77"/>
              </a:rPr>
              <a:t> ** Clay Foundation Model</a:t>
            </a:r>
            <a:endParaRPr lang="en-US" sz="2000" dirty="0">
              <a:latin typeface="Lato" panose="020F0502020204030203" pitchFamily="34" charset="77"/>
            </a:endParaRP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E9566BD2-A943-E8BA-9467-8800F0005CB1}"/>
              </a:ext>
            </a:extLst>
          </p:cNvPr>
          <p:cNvSpPr/>
          <p:nvPr/>
        </p:nvSpPr>
        <p:spPr>
          <a:xfrm>
            <a:off x="5919624" y="1746078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DB88094D-A387-0506-0D74-6F9625A723D5}"/>
              </a:ext>
            </a:extLst>
          </p:cNvPr>
          <p:cNvSpPr/>
          <p:nvPr/>
        </p:nvSpPr>
        <p:spPr>
          <a:xfrm>
            <a:off x="2058824" y="1746078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E3541353-22B2-7687-066A-53FE97EDEA52}"/>
              </a:ext>
            </a:extLst>
          </p:cNvPr>
          <p:cNvSpPr/>
          <p:nvPr/>
        </p:nvSpPr>
        <p:spPr>
          <a:xfrm rot="5400000">
            <a:off x="10490746" y="2295853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628BAB84-DB72-9B26-30F7-72F02531DFF6}"/>
              </a:ext>
            </a:extLst>
          </p:cNvPr>
          <p:cNvSpPr/>
          <p:nvPr/>
        </p:nvSpPr>
        <p:spPr>
          <a:xfrm>
            <a:off x="5919624" y="4714131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225E343B-315A-8E1F-2865-0BCEDBD39070}"/>
              </a:ext>
            </a:extLst>
          </p:cNvPr>
          <p:cNvSpPr/>
          <p:nvPr/>
        </p:nvSpPr>
        <p:spPr>
          <a:xfrm>
            <a:off x="2058824" y="4714131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BA1B02A8-1F59-C635-BBA7-C775F9881C22}"/>
              </a:ext>
            </a:extLst>
          </p:cNvPr>
          <p:cNvSpPr/>
          <p:nvPr/>
        </p:nvSpPr>
        <p:spPr>
          <a:xfrm rot="16200000">
            <a:off x="10490746" y="4139644"/>
            <a:ext cx="548640" cy="51057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A30F36F0-2EE7-79D7-CCAE-E9876032F589}"/>
              </a:ext>
            </a:extLst>
          </p:cNvPr>
          <p:cNvSpPr/>
          <p:nvPr/>
        </p:nvSpPr>
        <p:spPr>
          <a:xfrm>
            <a:off x="4062499" y="5779997"/>
            <a:ext cx="719325" cy="809469"/>
          </a:xfrm>
          <a:prstGeom prst="upArrow">
            <a:avLst/>
          </a:prstGeom>
          <a:solidFill>
            <a:srgbClr val="107B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3BC890-4C14-B965-3E16-A23737C869BA}"/>
              </a:ext>
            </a:extLst>
          </p:cNvPr>
          <p:cNvSpPr txBox="1"/>
          <p:nvPr/>
        </p:nvSpPr>
        <p:spPr>
          <a:xfrm>
            <a:off x="3325963" y="2606706"/>
            <a:ext cx="2160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D1C1D"/>
                </a:solidFill>
                <a:latin typeface="Lato" panose="020F0502020204030203" pitchFamily="34" charset="77"/>
              </a:rPr>
              <a:t> * NDVI, BSI, NTL</a:t>
            </a:r>
            <a:endParaRPr lang="en-US" sz="2000" dirty="0">
              <a:latin typeface="Lato" panose="020F0502020204030203" pitchFamily="34" charset="77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544DA07-BCC7-AD47-BC12-F53F097D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35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EBF5-DF78-834D-6054-085093E4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EF3650-C206-6336-7DC5-64D0E8E7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8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5E82-FB20-CB12-5D0D-577D55CD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CECD3-76B1-AD7F-DD13-476C9CADD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6906A-8BD7-87AB-3E61-24F68F23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25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CBAD-EDC0-CFB2-9535-E597C1EF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8D79B5-CD45-BED9-4D25-8CAEDE193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494" y="3099594"/>
            <a:ext cx="8420100" cy="1803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8ABE4-FD78-E92D-7F89-37A70BD3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31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C86-B754-91A0-1D06-D9A68F12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10126-D3F8-B67E-1DEC-62F16CF3D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Export </a:t>
            </a:r>
            <a:r>
              <a:rPr lang="en-US" dirty="0" err="1"/>
              <a:t>nK’s</a:t>
            </a:r>
            <a:r>
              <a:rPr lang="en-US" dirty="0"/>
              <a:t> military land use data from OpenStreetMap in </a:t>
            </a:r>
            <a:r>
              <a:rPr lang="en-US" dirty="0" err="1"/>
              <a:t>GeoJSON</a:t>
            </a:r>
            <a:r>
              <a:rPr lang="en-US" dirty="0"/>
              <a:t> format and create a column to distinguish between labeled and unlabeled polygon objects.</a:t>
            </a:r>
          </a:p>
          <a:p>
            <a:pPr marL="0" indent="0">
              <a:buNone/>
            </a:pPr>
            <a:r>
              <a:rPr lang="en-US" dirty="0"/>
              <a:t>     - For polygons with no category information but with an installation name (in at least one language), infer the category based on the installation name and input it in hand.</a:t>
            </a:r>
          </a:p>
          <a:p>
            <a:pPr marL="0" indent="0">
              <a:buNone/>
            </a:pPr>
            <a:r>
              <a:rPr lang="en-US" dirty="0"/>
              <a:t>2. Using GEE, clip satellite imagery using polygons.</a:t>
            </a:r>
          </a:p>
          <a:p>
            <a:pPr marL="0" indent="0">
              <a:buNone/>
            </a:pPr>
            <a:r>
              <a:rPr lang="en-US" dirty="0"/>
              <a:t>You might treat this as a non-image ML problem that uses some image-derived data as an input (e.g., NDVI, nighttime lights from MODIS)</a:t>
            </a:r>
          </a:p>
          <a:p>
            <a:pPr marL="0" indent="0">
              <a:buNone/>
            </a:pPr>
            <a:r>
              <a:rPr lang="en-US" dirty="0"/>
              <a:t>3. Split the 231 labeled samples into training (60%) and testing (40%) sets to train a classification model</a:t>
            </a:r>
          </a:p>
          <a:p>
            <a:pPr marL="0" indent="0">
              <a:buNone/>
            </a:pPr>
            <a:r>
              <a:rPr lang="en-US" dirty="0"/>
              <a:t>     - The model follows HW4, but I am developing model details.</a:t>
            </a:r>
          </a:p>
          <a:p>
            <a:pPr marL="0" indent="0">
              <a:buNone/>
            </a:pPr>
            <a:r>
              <a:rPr lang="en-US" dirty="0"/>
              <a:t>4. Use the trained model to predict the categories of the remaining 1,708 unlabeled military installations.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23FB6-2043-E83B-E9B3-3ED84060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58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B636-2E73-3777-4D85-E15B04E0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Description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C12FD-1709-2972-57E9-3EAD0875EB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028" y="1825625"/>
            <a:ext cx="53450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E521E-2EE8-2EAF-4F99-A070CCEE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86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E4A2-A5AD-0867-1F5B-1762D6D9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C6B94-2249-360E-FE2A-6B9ED1A12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Demir, İlke; Hughes, Forest; Raj, Aman; Dhruv,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Kaunil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Muddala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Suryanarayana M; Garg, Sanyam; Doo, Barrett;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Raskar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Ramesh (2018), </a:t>
            </a:r>
            <a:r>
              <a:rPr lang="en-US" b="1" dirty="0"/>
              <a:t>Generative Street Addresses from Satellite Imagery, </a:t>
            </a:r>
            <a:r>
              <a:rPr lang="en-US" i="1" dirty="0">
                <a:effectLst/>
              </a:rPr>
              <a:t>ISPRS Int. J. Geo-Inf.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2018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7</a:t>
            </a:r>
            <a:r>
              <a:rPr lang="en-US" dirty="0">
                <a:effectLst/>
              </a:rPr>
              <a:t>(3), 84; </a:t>
            </a:r>
            <a:r>
              <a:rPr lang="en-US" dirty="0">
                <a:effectLst/>
                <a:hlinkClick r:id="rId2"/>
              </a:rPr>
              <a:t>https://doi.org/10.3390/ijgi7030084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/>
              <a:t>Jun, </a:t>
            </a:r>
            <a:r>
              <a:rPr lang="en-US" dirty="0" err="1"/>
              <a:t>Youngsang</a:t>
            </a:r>
            <a:r>
              <a:rPr lang="en-US" dirty="0"/>
              <a:t> (2021), A Study on the Factors of Occurrence of Time Difference of Experience for a Transferred Policy: focusing on Address Policy in Republic of Korea</a:t>
            </a:r>
            <a:r>
              <a:rPr lang="ko-KR" altLang="en-US" dirty="0"/>
              <a:t> </a:t>
            </a:r>
            <a:r>
              <a:rPr lang="en-US" altLang="ko-KR" dirty="0"/>
              <a:t>(MPA thesis, not peer reviewed, </a:t>
            </a:r>
            <a:r>
              <a:rPr lang="en-US" altLang="ko-KR" i="1" dirty="0"/>
              <a:t>Korean</a:t>
            </a:r>
            <a:r>
              <a:rPr lang="en-US" altLang="ko-KR" dirty="0"/>
              <a:t>)</a:t>
            </a:r>
          </a:p>
          <a:p>
            <a:r>
              <a:rPr lang="en-US" dirty="0">
                <a:hlinkClick r:id="rId3"/>
              </a:rPr>
              <a:t>https://www.juso.go.kr</a:t>
            </a:r>
            <a:endParaRPr lang="en-US" dirty="0"/>
          </a:p>
          <a:p>
            <a:r>
              <a:rPr lang="en-US" dirty="0"/>
              <a:t>Ministry of the Interior and Safety, Republic of Korea (2017), Road Name Address Work Manual.</a:t>
            </a:r>
          </a:p>
          <a:p>
            <a:r>
              <a:rPr lang="en-US" dirty="0"/>
              <a:t>International Standard Organization (ISO) 19160-1:2015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4A052-7A77-FC11-6613-1459A530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281D-7D25-E04C-B322-488ECBBBDB6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10048</TotalTime>
  <Words>1517</Words>
  <Application>Microsoft Macintosh PowerPoint</Application>
  <PresentationFormat>Widescreen</PresentationFormat>
  <Paragraphs>266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Lato</vt:lpstr>
      <vt:lpstr>Menlo</vt:lpstr>
      <vt:lpstr>Office Theme</vt:lpstr>
      <vt:lpstr>Classification of Military Installations in North Korea on OpenStreetMap using Machine Learning</vt:lpstr>
      <vt:lpstr>Background: Image and Polygons of Military Land Use in nK</vt:lpstr>
      <vt:lpstr>Background: Attribute Data of Military Land Use of nK</vt:lpstr>
      <vt:lpstr>Purpose</vt:lpstr>
      <vt:lpstr>Assumption</vt:lpstr>
      <vt:lpstr>Method</vt:lpstr>
      <vt:lpstr>Method: Data Processing</vt:lpstr>
      <vt:lpstr>Method: Data Processing</vt:lpstr>
      <vt:lpstr>Method: Model 1 (RF w/ directly obtained image values) Validation</vt:lpstr>
      <vt:lpstr>Result: Model 1 Overall accuracy </vt:lpstr>
      <vt:lpstr>Result: Model 1 Confusion Matrix</vt:lpstr>
      <vt:lpstr>Result: Model 1 Misclassified examples</vt:lpstr>
      <vt:lpstr>Method: Model 2 (RF/MLP/k-NN w/ Clay Foundation Model)</vt:lpstr>
      <vt:lpstr>Strength of Clay Foundation Model</vt:lpstr>
      <vt:lpstr>However… </vt:lpstr>
      <vt:lpstr>Method</vt:lpstr>
      <vt:lpstr>Thank you</vt:lpstr>
      <vt:lpstr>However…</vt:lpstr>
      <vt:lpstr>PowerPoint Presentation</vt:lpstr>
      <vt:lpstr>Method</vt:lpstr>
      <vt:lpstr>Model Description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Jun, Youngsang</dc:creator>
  <cp:lastModifiedBy>Jun, Youngsang</cp:lastModifiedBy>
  <cp:revision>158</cp:revision>
  <dcterms:created xsi:type="dcterms:W3CDTF">2025-02-13T18:25:59Z</dcterms:created>
  <dcterms:modified xsi:type="dcterms:W3CDTF">2025-04-24T06:16:47Z</dcterms:modified>
</cp:coreProperties>
</file>